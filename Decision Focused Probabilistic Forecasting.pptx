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AE4D0CB-45B4-4C7B-BF53-3BBE1C227625}">
  <a:tblStyle styleId="{BAE4D0CB-45B4-4C7B-BF53-3BBE1C22762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 name="Google Shape;93;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 name="Google Shape;100;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 name="Google Shape;113;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 name="Google Shape;119;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 name="Google Shape;125;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a1a9f5f64b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a1a9f5f64b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g2a1a9f5f64b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ac6df23f9c_4_1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ac6df23f9c_4_1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g2ac6df23f9c_4_11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9" name="Google Shape;159;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a200b9d33b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g2a200b9d33b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ac6df23f9c_4_4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ac6df23f9c_4_4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g2ac6df23f9c_4_4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ac6df23f9c_4_1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2ac6df23f9c_4_1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2" name="Google Shape;192;p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2"/>
          <p:cNvSpPr txBox="1"/>
          <p:nvPr>
            <p:ph idx="12" type="sldNum"/>
          </p:nvPr>
        </p:nvSpPr>
        <p:spPr>
          <a:xfrm>
            <a:off x="6019800" y="6188075"/>
            <a:ext cx="2133600" cy="4413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r>
              <a:rPr lang="en-US"/>
              <a:t>1</a:t>
            </a:r>
            <a:fld id="{00000000-1234-1234-1234-123412341234}" type="slidenum">
              <a:rPr lang="en-US"/>
              <a:t>‹#›</a:t>
            </a:fld>
            <a:endParaRPr/>
          </a:p>
        </p:txBody>
      </p:sp>
      <p:sp>
        <p:nvSpPr>
          <p:cNvPr id="19" name="Google Shape;19;p2"/>
          <p:cNvSpPr/>
          <p:nvPr/>
        </p:nvSpPr>
        <p:spPr>
          <a:xfrm>
            <a:off x="245076" y="6183072"/>
            <a:ext cx="2133600" cy="598727"/>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0" name="Google Shape;20;p2"/>
          <p:cNvPicPr preferRelativeResize="0"/>
          <p:nvPr/>
        </p:nvPicPr>
        <p:blipFill rotWithShape="1">
          <a:blip r:embed="rId2">
            <a:alphaModFix/>
          </a:blip>
          <a:srcRect b="0" l="0" r="0" t="0"/>
          <a:stretch/>
        </p:blipFill>
        <p:spPr>
          <a:xfrm>
            <a:off x="609600" y="6205611"/>
            <a:ext cx="1447800" cy="54870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457200" y="381000"/>
            <a:ext cx="8077200" cy="370042"/>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rgbClr val="002060"/>
              </a:buClr>
              <a:buSzPts val="3600"/>
              <a:buFont typeface="Arial"/>
              <a:buNone/>
              <a:defRPr b="1" sz="3600">
                <a:solidFill>
                  <a:srgbClr val="002060"/>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 type="body"/>
          </p:nvPr>
        </p:nvSpPr>
        <p:spPr>
          <a:xfrm>
            <a:off x="457200" y="975788"/>
            <a:ext cx="8229600" cy="5127315"/>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Font typeface="Noto Sans Symbols"/>
              <a:buChar char="❑"/>
              <a:defRPr b="1" sz="2400">
                <a:latin typeface="Arial"/>
                <a:ea typeface="Arial"/>
                <a:cs typeface="Arial"/>
                <a:sym typeface="Arial"/>
              </a:defRPr>
            </a:lvl1pPr>
            <a:lvl2pPr indent="-368300" lvl="1" marL="914400" algn="l">
              <a:lnSpc>
                <a:spcPct val="100000"/>
              </a:lnSpc>
              <a:spcBef>
                <a:spcPts val="440"/>
              </a:spcBef>
              <a:spcAft>
                <a:spcPts val="0"/>
              </a:spcAft>
              <a:buClr>
                <a:srgbClr val="0070C0"/>
              </a:buClr>
              <a:buSzPts val="2200"/>
              <a:buFont typeface="Noto Sans Symbols"/>
              <a:buChar char="⮚"/>
              <a:defRPr b="1" sz="2200">
                <a:solidFill>
                  <a:srgbClr val="0070C0"/>
                </a:solidFill>
                <a:latin typeface="Arial"/>
                <a:ea typeface="Arial"/>
                <a:cs typeface="Arial"/>
                <a:sym typeface="Arial"/>
              </a:defRPr>
            </a:lvl2pPr>
            <a:lvl3pPr indent="-355600" lvl="2" marL="1371600" algn="l">
              <a:lnSpc>
                <a:spcPct val="100000"/>
              </a:lnSpc>
              <a:spcBef>
                <a:spcPts val="400"/>
              </a:spcBef>
              <a:spcAft>
                <a:spcPts val="0"/>
              </a:spcAft>
              <a:buClr>
                <a:schemeClr val="dk1"/>
              </a:buClr>
              <a:buSzPts val="2000"/>
              <a:buFont typeface="Noto Sans Symbols"/>
              <a:buChar char="❖"/>
              <a:defRPr b="1" sz="2000">
                <a:latin typeface="Arial"/>
                <a:ea typeface="Arial"/>
                <a:cs typeface="Arial"/>
                <a:sym typeface="Arial"/>
              </a:defRPr>
            </a:lvl3pPr>
            <a:lvl4pPr indent="-330200" lvl="3" marL="1828800" algn="l">
              <a:lnSpc>
                <a:spcPct val="100000"/>
              </a:lnSpc>
              <a:spcBef>
                <a:spcPts val="320"/>
              </a:spcBef>
              <a:spcAft>
                <a:spcPts val="0"/>
              </a:spcAft>
              <a:buClr>
                <a:schemeClr val="dk1"/>
              </a:buClr>
              <a:buSzPts val="1600"/>
              <a:buFont typeface="Courier New"/>
              <a:buChar char="o"/>
              <a:defRPr b="1" sz="1600"/>
            </a:lvl4pPr>
            <a:lvl5pPr indent="-317500" lvl="4" marL="2286000" algn="l">
              <a:lnSpc>
                <a:spcPct val="100000"/>
              </a:lnSpc>
              <a:spcBef>
                <a:spcPts val="280"/>
              </a:spcBef>
              <a:spcAft>
                <a:spcPts val="0"/>
              </a:spcAft>
              <a:buClr>
                <a:schemeClr val="dk1"/>
              </a:buClr>
              <a:buSzPts val="1400"/>
              <a:buChar char="»"/>
              <a:defRPr b="1" sz="14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3"/>
          <p:cNvSpPr/>
          <p:nvPr/>
        </p:nvSpPr>
        <p:spPr>
          <a:xfrm>
            <a:off x="245076" y="6183072"/>
            <a:ext cx="2133600" cy="598727"/>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 name="Google Shape;25;p3"/>
          <p:cNvSpPr txBox="1"/>
          <p:nvPr/>
        </p:nvSpPr>
        <p:spPr>
          <a:xfrm>
            <a:off x="6019800" y="6188075"/>
            <a:ext cx="2133600" cy="4413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Arial"/>
              <a:buNone/>
            </a:pPr>
            <a:fld id="{00000000-1234-1234-1234-123412341234}" type="slidenum">
              <a:rPr b="0" i="0" lang="en-US" sz="2400" u="none" cap="none" strike="noStrike">
                <a:solidFill>
                  <a:srgbClr val="888888"/>
                </a:solidFill>
                <a:latin typeface="Calibri"/>
                <a:ea typeface="Calibri"/>
                <a:cs typeface="Calibri"/>
                <a:sym typeface="Calibri"/>
              </a:rPr>
              <a:t>‹#›</a:t>
            </a:fld>
            <a:endParaRPr b="0" i="0" sz="2000" u="none" cap="none" strike="noStrike">
              <a:solidFill>
                <a:srgbClr val="888888"/>
              </a:solidFill>
              <a:latin typeface="Calibri"/>
              <a:ea typeface="Calibri"/>
              <a:cs typeface="Calibri"/>
              <a:sym typeface="Calibri"/>
            </a:endParaRPr>
          </a:p>
        </p:txBody>
      </p:sp>
      <p:sp>
        <p:nvSpPr>
          <p:cNvPr id="26" name="Google Shape;26;p3"/>
          <p:cNvSpPr/>
          <p:nvPr/>
        </p:nvSpPr>
        <p:spPr>
          <a:xfrm>
            <a:off x="457200" y="274639"/>
            <a:ext cx="8229600" cy="598641"/>
          </a:xfrm>
          <a:prstGeom prst="rect">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 name="Google Shape;27;p3"/>
          <p:cNvSpPr/>
          <p:nvPr/>
        </p:nvSpPr>
        <p:spPr>
          <a:xfrm>
            <a:off x="7580870" y="6096000"/>
            <a:ext cx="717556" cy="618371"/>
          </a:xfrm>
          <a:prstGeom prst="ellipse">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28" name="Google Shape;28;p3"/>
          <p:cNvPicPr preferRelativeResize="0"/>
          <p:nvPr/>
        </p:nvPicPr>
        <p:blipFill rotWithShape="1">
          <a:blip r:embed="rId2">
            <a:alphaModFix/>
          </a:blip>
          <a:srcRect b="0" l="0" r="0" t="0"/>
          <a:stretch/>
        </p:blipFill>
        <p:spPr>
          <a:xfrm>
            <a:off x="609600" y="6205611"/>
            <a:ext cx="1447800" cy="54870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2" name="Google Shape;32;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4"/>
          <p:cNvSpPr txBox="1"/>
          <p:nvPr>
            <p:ph idx="12" type="sldNum"/>
          </p:nvPr>
        </p:nvSpPr>
        <p:spPr>
          <a:xfrm>
            <a:off x="6477000" y="6187002"/>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5" name="Google Shape;35;p4"/>
          <p:cNvSpPr/>
          <p:nvPr/>
        </p:nvSpPr>
        <p:spPr>
          <a:xfrm>
            <a:off x="228600" y="6226635"/>
            <a:ext cx="2133600" cy="598727"/>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36" name="Google Shape;36;p4"/>
          <p:cNvPicPr preferRelativeResize="0"/>
          <p:nvPr/>
        </p:nvPicPr>
        <p:blipFill rotWithShape="1">
          <a:blip r:embed="rId2">
            <a:alphaModFix/>
          </a:blip>
          <a:srcRect b="0" l="0" r="0" t="0"/>
          <a:stretch/>
        </p:blipFill>
        <p:spPr>
          <a:xfrm>
            <a:off x="609600" y="6205611"/>
            <a:ext cx="1447800" cy="54870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5"/>
          <p:cNvSpPr txBox="1"/>
          <p:nvPr>
            <p:ph idx="10" type="dt"/>
          </p:nvPr>
        </p:nvSpPr>
        <p:spPr>
          <a:xfrm>
            <a:off x="15240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5"/>
          <p:cNvSpPr txBox="1"/>
          <p:nvPr>
            <p:ph idx="11" type="ftr"/>
          </p:nvPr>
        </p:nvSpPr>
        <p:spPr>
          <a:xfrm>
            <a:off x="36576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44" name="Google Shape;44;p5"/>
          <p:cNvPicPr preferRelativeResize="0"/>
          <p:nvPr/>
        </p:nvPicPr>
        <p:blipFill rotWithShape="1">
          <a:blip r:embed="rId2">
            <a:alphaModFix/>
          </a:blip>
          <a:srcRect b="0" l="0" r="0" t="0"/>
          <a:stretch/>
        </p:blipFill>
        <p:spPr>
          <a:xfrm>
            <a:off x="-76200" y="6205611"/>
            <a:ext cx="1447800" cy="54870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8" name="Google Shape;48;p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9" name="Google Shape;49;p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50" name="Google Shape;50;p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1" name="Google Shape;51;p6"/>
          <p:cNvSpPr txBox="1"/>
          <p:nvPr>
            <p:ph idx="10" type="dt"/>
          </p:nvPr>
        </p:nvSpPr>
        <p:spPr>
          <a:xfrm>
            <a:off x="1620946"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6"/>
          <p:cNvSpPr txBox="1"/>
          <p:nvPr>
            <p:ph idx="11" type="ftr"/>
          </p:nvPr>
        </p:nvSpPr>
        <p:spPr>
          <a:xfrm>
            <a:off x="3767684"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54" name="Google Shape;54;p6"/>
          <p:cNvPicPr preferRelativeResize="0"/>
          <p:nvPr/>
        </p:nvPicPr>
        <p:blipFill rotWithShape="1">
          <a:blip r:embed="rId2">
            <a:alphaModFix/>
          </a:blip>
          <a:srcRect b="0" l="0" r="0" t="0"/>
          <a:stretch/>
        </p:blipFill>
        <p:spPr>
          <a:xfrm>
            <a:off x="76200" y="6205611"/>
            <a:ext cx="1447800" cy="54870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7"/>
          <p:cNvSpPr txBox="1"/>
          <p:nvPr>
            <p:ph idx="10" type="dt"/>
          </p:nvPr>
        </p:nvSpPr>
        <p:spPr>
          <a:xfrm>
            <a:off x="1584434" y="6356349"/>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7"/>
          <p:cNvSpPr txBox="1"/>
          <p:nvPr>
            <p:ph idx="11" type="ftr"/>
          </p:nvPr>
        </p:nvSpPr>
        <p:spPr>
          <a:xfrm>
            <a:off x="37338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60" name="Google Shape;60;p7"/>
          <p:cNvPicPr preferRelativeResize="0"/>
          <p:nvPr/>
        </p:nvPicPr>
        <p:blipFill rotWithShape="1">
          <a:blip r:embed="rId2">
            <a:alphaModFix/>
          </a:blip>
          <a:srcRect b="0" l="0" r="0" t="0"/>
          <a:stretch/>
        </p:blipFill>
        <p:spPr>
          <a:xfrm>
            <a:off x="0" y="6205611"/>
            <a:ext cx="1447800" cy="54870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1" name="Shape 61"/>
        <p:cNvGrpSpPr/>
        <p:nvPr/>
      </p:nvGrpSpPr>
      <p:grpSpPr>
        <a:xfrm>
          <a:off x="0" y="0"/>
          <a:ext cx="0" cy="0"/>
          <a:chOff x="0" y="0"/>
          <a:chExt cx="0" cy="0"/>
        </a:xfrm>
      </p:grpSpPr>
      <p:sp>
        <p:nvSpPr>
          <p:cNvPr id="62" name="Google Shape;62;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id="66" name="Google Shape;66;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8" name="Google Shape;68;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2" name="Shape 72"/>
        <p:cNvGrpSpPr/>
        <p:nvPr/>
      </p:nvGrpSpPr>
      <p:grpSpPr>
        <a:xfrm>
          <a:off x="0" y="0"/>
          <a:ext cx="0" cy="0"/>
          <a:chOff x="0" y="0"/>
          <a:chExt cx="0" cy="0"/>
        </a:xfrm>
      </p:grpSpPr>
      <p:sp>
        <p:nvSpPr>
          <p:cNvPr id="73" name="Google Shape;73;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0"/>
          <p:cNvSpPr/>
          <p:nvPr>
            <p:ph idx="2" type="pic"/>
          </p:nvPr>
        </p:nvSpPr>
        <p:spPr>
          <a:xfrm>
            <a:off x="1792288" y="612775"/>
            <a:ext cx="5486400" cy="4114800"/>
          </a:xfrm>
          <a:prstGeom prst="rect">
            <a:avLst/>
          </a:prstGeom>
          <a:noFill/>
          <a:ln>
            <a:noFill/>
          </a:ln>
        </p:spPr>
      </p:sp>
      <p:sp>
        <p:nvSpPr>
          <p:cNvPr id="75" name="Google Shape;75;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76" name="Google Shape;76;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9" name="Shape 79"/>
        <p:cNvGrpSpPr/>
        <p:nvPr/>
      </p:nvGrpSpPr>
      <p:grpSpPr>
        <a:xfrm>
          <a:off x="0" y="0"/>
          <a:ext cx="0" cy="0"/>
          <a:chOff x="0" y="0"/>
          <a:chExt cx="0" cy="0"/>
        </a:xfrm>
      </p:grpSpPr>
      <p:sp>
        <p:nvSpPr>
          <p:cNvPr id="80" name="Google Shape;80;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2" name="Google Shape;82;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5" name="Shape 85"/>
        <p:cNvGrpSpPr/>
        <p:nvPr/>
      </p:nvGrpSpPr>
      <p:grpSpPr>
        <a:xfrm>
          <a:off x="0" y="0"/>
          <a:ext cx="0" cy="0"/>
          <a:chOff x="0" y="0"/>
          <a:chExt cx="0" cy="0"/>
        </a:xfrm>
      </p:grpSpPr>
      <p:sp>
        <p:nvSpPr>
          <p:cNvPr id="86" name="Google Shape;86;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8" name="Google Shape;8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3"/>
          <p:cNvSpPr/>
          <p:nvPr/>
        </p:nvSpPr>
        <p:spPr>
          <a:xfrm>
            <a:off x="533400" y="1615550"/>
            <a:ext cx="8229600" cy="11358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b="1" lang="en-US" sz="3200"/>
              <a:t>Decision-Focused Probabilistic Forecasting</a:t>
            </a:r>
            <a:endParaRPr b="1" sz="3200"/>
          </a:p>
          <a:p>
            <a:pPr indent="0" lvl="0" marL="0" rtl="0" algn="ctr">
              <a:spcBef>
                <a:spcPts val="0"/>
              </a:spcBef>
              <a:spcAft>
                <a:spcPts val="0"/>
              </a:spcAft>
              <a:buSzPts val="1100"/>
              <a:buNone/>
            </a:pPr>
            <a:r>
              <a:rPr b="1" lang="en-US" sz="3200"/>
              <a:t> </a:t>
            </a:r>
            <a:endParaRPr b="1" sz="3200"/>
          </a:p>
          <a:p>
            <a:pPr indent="0" lvl="0" marL="0" marR="0" rtl="0" algn="ctr">
              <a:lnSpc>
                <a:spcPct val="100000"/>
              </a:lnSpc>
              <a:spcBef>
                <a:spcPts val="0"/>
              </a:spcBef>
              <a:spcAft>
                <a:spcPts val="0"/>
              </a:spcAft>
              <a:buNone/>
            </a:pPr>
            <a:br>
              <a:rPr b="0" i="0" lang="en-US" sz="3200" u="none" cap="none" strike="noStrike">
                <a:solidFill>
                  <a:srgbClr val="000000"/>
                </a:solidFill>
                <a:latin typeface="Arial"/>
                <a:ea typeface="Arial"/>
                <a:cs typeface="Arial"/>
                <a:sym typeface="Arial"/>
              </a:rPr>
            </a:br>
            <a:endParaRPr b="0" i="0" sz="3000" u="none" cap="none" strike="noStrike">
              <a:solidFill>
                <a:schemeClr val="dk1"/>
              </a:solidFill>
              <a:latin typeface="Arial"/>
              <a:ea typeface="Arial"/>
              <a:cs typeface="Arial"/>
              <a:sym typeface="Arial"/>
            </a:endParaRPr>
          </a:p>
        </p:txBody>
      </p:sp>
      <p:sp>
        <p:nvSpPr>
          <p:cNvPr id="96" name="Google Shape;96;p13"/>
          <p:cNvSpPr/>
          <p:nvPr/>
        </p:nvSpPr>
        <p:spPr>
          <a:xfrm>
            <a:off x="1078500" y="2870600"/>
            <a:ext cx="6987000" cy="2739300"/>
          </a:xfrm>
          <a:prstGeom prst="rect">
            <a:avLst/>
          </a:prstGeom>
          <a:noFill/>
          <a:ln>
            <a:noFill/>
          </a:ln>
        </p:spPr>
        <p:txBody>
          <a:bodyPr anchorCtr="0" anchor="t" bIns="45700" lIns="91425" spcFirstLastPara="1" rIns="91425" wrap="square" tIns="45700">
            <a:noAutofit/>
          </a:bodyPr>
          <a:lstStyle/>
          <a:p>
            <a:pPr indent="0" lvl="0" marL="457200" rtl="0" algn="ctr">
              <a:spcBef>
                <a:spcPts val="0"/>
              </a:spcBef>
              <a:spcAft>
                <a:spcPts val="0"/>
              </a:spcAft>
              <a:buClr>
                <a:schemeClr val="dk1"/>
              </a:buClr>
              <a:buSzPts val="1100"/>
              <a:buFont typeface="Arial"/>
              <a:buNone/>
            </a:pPr>
            <a:r>
              <a:rPr i="1" lang="en-US" sz="2600">
                <a:solidFill>
                  <a:schemeClr val="dk1"/>
                </a:solidFill>
                <a:latin typeface="Calibri"/>
                <a:ea typeface="Calibri"/>
                <a:cs typeface="Calibri"/>
                <a:sym typeface="Calibri"/>
              </a:rPr>
              <a:t>Aligning Retail Demand Predictions with Inventory Cost Objectives.</a:t>
            </a:r>
            <a:endParaRPr i="1" sz="2600">
              <a:solidFill>
                <a:schemeClr val="dk1"/>
              </a:solidFill>
              <a:latin typeface="Calibri"/>
              <a:ea typeface="Calibri"/>
              <a:cs typeface="Calibri"/>
              <a:sym typeface="Calibri"/>
            </a:endParaRPr>
          </a:p>
          <a:p>
            <a:pPr indent="0" lvl="0" marL="457200" rtl="0" algn="ctr">
              <a:spcBef>
                <a:spcPts val="0"/>
              </a:spcBef>
              <a:spcAft>
                <a:spcPts val="0"/>
              </a:spcAft>
              <a:buClr>
                <a:schemeClr val="dk1"/>
              </a:buClr>
              <a:buSzPts val="1100"/>
              <a:buFont typeface="Arial"/>
              <a:buNone/>
            </a:pPr>
            <a:r>
              <a:t/>
            </a:r>
            <a:endParaRPr i="1" sz="2600">
              <a:solidFill>
                <a:schemeClr val="dk1"/>
              </a:solidFill>
              <a:latin typeface="Calibri"/>
              <a:ea typeface="Calibri"/>
              <a:cs typeface="Calibri"/>
              <a:sym typeface="Calibri"/>
            </a:endParaRPr>
          </a:p>
          <a:p>
            <a:pPr indent="0" lvl="0" marL="457200" marR="0" rtl="0" algn="ctr">
              <a:lnSpc>
                <a:spcPct val="100000"/>
              </a:lnSpc>
              <a:spcBef>
                <a:spcPts val="0"/>
              </a:spcBef>
              <a:spcAft>
                <a:spcPts val="0"/>
              </a:spcAft>
              <a:buClr>
                <a:srgbClr val="000000"/>
              </a:buClr>
              <a:buSzPts val="2200"/>
              <a:buFont typeface="Arial"/>
              <a:buNone/>
            </a:pPr>
            <a:r>
              <a:t/>
            </a:r>
            <a:endParaRPr i="1" sz="2600">
              <a:solidFill>
                <a:schemeClr val="dk1"/>
              </a:solidFill>
              <a:latin typeface="Calibri"/>
              <a:ea typeface="Calibri"/>
              <a:cs typeface="Calibri"/>
              <a:sym typeface="Calibri"/>
            </a:endParaRPr>
          </a:p>
        </p:txBody>
      </p:sp>
      <p:sp>
        <p:nvSpPr>
          <p:cNvPr id="97" name="Google Shape;97;p13"/>
          <p:cNvSpPr/>
          <p:nvPr/>
        </p:nvSpPr>
        <p:spPr>
          <a:xfrm>
            <a:off x="1715950" y="4071050"/>
            <a:ext cx="6247500" cy="153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chemeClr val="dk1"/>
                </a:solidFill>
                <a:latin typeface="Calibri"/>
                <a:ea typeface="Calibri"/>
                <a:cs typeface="Calibri"/>
                <a:sym typeface="Calibri"/>
              </a:rPr>
              <a:t>Presented by </a:t>
            </a:r>
            <a:r>
              <a:rPr b="1" i="0" lang="en-US" sz="22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lang="en-US" sz="2400">
                <a:solidFill>
                  <a:schemeClr val="dk1"/>
                </a:solidFill>
                <a:latin typeface="Calibri"/>
                <a:ea typeface="Calibri"/>
                <a:cs typeface="Calibri"/>
                <a:sym typeface="Calibri"/>
              </a:rPr>
              <a:t>ALABYEKKUBO SSUUBI BRIAN</a:t>
            </a:r>
            <a:endParaRPr/>
          </a:p>
          <a:p>
            <a:pPr indent="0" lvl="0" marL="0" marR="0" rtl="0" algn="l">
              <a:lnSpc>
                <a:spcPct val="100000"/>
              </a:lnSpc>
              <a:spcBef>
                <a:spcPts val="0"/>
              </a:spcBef>
              <a:spcAft>
                <a:spcPts val="0"/>
              </a:spcAft>
              <a:buNone/>
            </a:pPr>
            <a:r>
              <a:rPr b="1" i="0" lang="en-US" sz="2200" u="none" cap="none" strike="noStrike">
                <a:solidFill>
                  <a:schemeClr val="dk1"/>
                </a:solidFill>
                <a:latin typeface="Calibri"/>
                <a:ea typeface="Calibri"/>
                <a:cs typeface="Calibri"/>
                <a:sym typeface="Calibri"/>
              </a:rPr>
              <a:t>Affiliation: Makerere University</a:t>
            </a:r>
            <a:r>
              <a:rPr lang="en-US"/>
              <a:t>, </a:t>
            </a:r>
            <a:r>
              <a:rPr b="1" i="0" lang="en-US" sz="2200" u="none" cap="none" strike="noStrike">
                <a:solidFill>
                  <a:schemeClr val="dk1"/>
                </a:solidFill>
                <a:latin typeface="Calibri"/>
                <a:ea typeface="Calibri"/>
                <a:cs typeface="Calibri"/>
                <a:sym typeface="Calibri"/>
              </a:rPr>
              <a:t>Uganda</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4"/>
          <p:cNvSpPr txBox="1"/>
          <p:nvPr>
            <p:ph type="title"/>
          </p:nvPr>
        </p:nvSpPr>
        <p:spPr>
          <a:xfrm>
            <a:off x="457200" y="381000"/>
            <a:ext cx="8077200" cy="370042"/>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rgbClr val="002060"/>
              </a:buClr>
              <a:buSzPct val="100000"/>
              <a:buFont typeface="Arial"/>
              <a:buNone/>
            </a:pPr>
            <a:r>
              <a:rPr lang="en-US"/>
              <a:t>Contents of Presentation</a:t>
            </a:r>
            <a:endParaRPr/>
          </a:p>
        </p:txBody>
      </p:sp>
      <p:sp>
        <p:nvSpPr>
          <p:cNvPr id="103" name="Google Shape;103;p14"/>
          <p:cNvSpPr txBox="1"/>
          <p:nvPr>
            <p:ph idx="1" type="body"/>
          </p:nvPr>
        </p:nvSpPr>
        <p:spPr>
          <a:xfrm>
            <a:off x="457200" y="975788"/>
            <a:ext cx="8229600" cy="5127315"/>
          </a:xfrm>
          <a:prstGeom prst="rect">
            <a:avLst/>
          </a:prstGeom>
          <a:noFill/>
          <a:ln>
            <a:noFill/>
          </a:ln>
        </p:spPr>
        <p:txBody>
          <a:bodyPr anchorCtr="0" anchor="t" bIns="45700" lIns="91425" spcFirstLastPara="1" rIns="91425" wrap="square" tIns="45700">
            <a:noAutofit/>
          </a:bodyPr>
          <a:lstStyle/>
          <a:p>
            <a:pPr indent="-311150" lvl="0" marL="342900" rtl="0" algn="l">
              <a:lnSpc>
                <a:spcPct val="100000"/>
              </a:lnSpc>
              <a:spcBef>
                <a:spcPts val="536"/>
              </a:spcBef>
              <a:spcAft>
                <a:spcPts val="0"/>
              </a:spcAft>
              <a:buSzPts val="2400"/>
              <a:buChar char="❑"/>
            </a:pPr>
            <a:r>
              <a:rPr lang="en-US"/>
              <a:t>Introduction</a:t>
            </a:r>
            <a:endParaRPr/>
          </a:p>
          <a:p>
            <a:pPr indent="-311150" lvl="0" marL="342900" rtl="0" algn="l">
              <a:lnSpc>
                <a:spcPct val="100000"/>
              </a:lnSpc>
              <a:spcBef>
                <a:spcPts val="536"/>
              </a:spcBef>
              <a:spcAft>
                <a:spcPts val="0"/>
              </a:spcAft>
              <a:buSzPts val="2400"/>
              <a:buChar char="❑"/>
            </a:pPr>
            <a:r>
              <a:rPr lang="en-US"/>
              <a:t>Problem Statement</a:t>
            </a:r>
            <a:endParaRPr/>
          </a:p>
          <a:p>
            <a:pPr indent="-311150" lvl="0" marL="342900" rtl="0" algn="l">
              <a:lnSpc>
                <a:spcPct val="100000"/>
              </a:lnSpc>
              <a:spcBef>
                <a:spcPts val="536"/>
              </a:spcBef>
              <a:spcAft>
                <a:spcPts val="0"/>
              </a:spcAft>
              <a:buSzPts val="2400"/>
              <a:buChar char="❑"/>
            </a:pPr>
            <a:r>
              <a:rPr lang="en-US"/>
              <a:t>Related work </a:t>
            </a:r>
            <a:endParaRPr/>
          </a:p>
          <a:p>
            <a:pPr indent="-311150" lvl="0" marL="342900" rtl="0" algn="l">
              <a:lnSpc>
                <a:spcPct val="100000"/>
              </a:lnSpc>
              <a:spcBef>
                <a:spcPts val="536"/>
              </a:spcBef>
              <a:spcAft>
                <a:spcPts val="0"/>
              </a:spcAft>
              <a:buSzPts val="2400"/>
              <a:buChar char="❑"/>
            </a:pPr>
            <a:r>
              <a:rPr lang="en-US"/>
              <a:t>Objectives</a:t>
            </a:r>
            <a:endParaRPr/>
          </a:p>
          <a:p>
            <a:pPr indent="-311150" lvl="0" marL="342900" rtl="0" algn="l">
              <a:lnSpc>
                <a:spcPct val="100000"/>
              </a:lnSpc>
              <a:spcBef>
                <a:spcPts val="536"/>
              </a:spcBef>
              <a:spcAft>
                <a:spcPts val="0"/>
              </a:spcAft>
              <a:buSzPts val="2400"/>
              <a:buChar char="❑"/>
            </a:pPr>
            <a:r>
              <a:rPr lang="en-US"/>
              <a:t>Research Questions</a:t>
            </a:r>
            <a:endParaRPr/>
          </a:p>
          <a:p>
            <a:pPr indent="-311150" lvl="0" marL="342900" rtl="0" algn="l">
              <a:lnSpc>
                <a:spcPct val="100000"/>
              </a:lnSpc>
              <a:spcBef>
                <a:spcPts val="536"/>
              </a:spcBef>
              <a:spcAft>
                <a:spcPts val="0"/>
              </a:spcAft>
              <a:buSzPts val="2400"/>
              <a:buChar char="❑"/>
            </a:pPr>
            <a:r>
              <a:rPr lang="en-US"/>
              <a:t>Research Contribution</a:t>
            </a:r>
            <a:endParaRPr/>
          </a:p>
          <a:p>
            <a:pPr indent="-311150" lvl="0" marL="342900" rtl="0" algn="l">
              <a:lnSpc>
                <a:spcPct val="100000"/>
              </a:lnSpc>
              <a:spcBef>
                <a:spcPts val="536"/>
              </a:spcBef>
              <a:spcAft>
                <a:spcPts val="0"/>
              </a:spcAft>
              <a:buSzPts val="2400"/>
              <a:buChar char="❑"/>
            </a:pPr>
            <a:r>
              <a:rPr lang="en-US"/>
              <a:t>Methodology </a:t>
            </a:r>
            <a:endParaRPr/>
          </a:p>
          <a:p>
            <a:pPr indent="-311150" lvl="0" marL="342900" rtl="0" algn="l">
              <a:lnSpc>
                <a:spcPct val="100000"/>
              </a:lnSpc>
              <a:spcBef>
                <a:spcPts val="536"/>
              </a:spcBef>
              <a:spcAft>
                <a:spcPts val="0"/>
              </a:spcAft>
              <a:buSzPts val="2400"/>
              <a:buChar char="❑"/>
            </a:pPr>
            <a:r>
              <a:rPr lang="en-US"/>
              <a:t>Preliminary Results</a:t>
            </a:r>
            <a:endParaRPr/>
          </a:p>
          <a:p>
            <a:pPr indent="-311150" lvl="0" marL="342900" rtl="0" algn="l">
              <a:lnSpc>
                <a:spcPct val="100000"/>
              </a:lnSpc>
              <a:spcBef>
                <a:spcPts val="536"/>
              </a:spcBef>
              <a:spcAft>
                <a:spcPts val="0"/>
              </a:spcAft>
              <a:buSzPts val="2400"/>
              <a:buChar char="❑"/>
            </a:pPr>
            <a:r>
              <a:rPr lang="en-US"/>
              <a:t>Next Steps</a:t>
            </a:r>
            <a:endParaRPr/>
          </a:p>
          <a:p>
            <a:pPr indent="-311150" lvl="0" marL="342900" rtl="0" algn="l">
              <a:lnSpc>
                <a:spcPct val="100000"/>
              </a:lnSpc>
              <a:spcBef>
                <a:spcPts val="536"/>
              </a:spcBef>
              <a:spcAft>
                <a:spcPts val="0"/>
              </a:spcAft>
              <a:buSzPts val="2400"/>
              <a:buChar char="❑"/>
            </a:pPr>
            <a:r>
              <a:rPr lang="en-US"/>
              <a:t>Conclusion</a:t>
            </a:r>
            <a:endParaRPr/>
          </a:p>
          <a:p>
            <a:pPr indent="-311150" lvl="0" marL="342900" rtl="0" algn="l">
              <a:lnSpc>
                <a:spcPct val="100000"/>
              </a:lnSpc>
              <a:spcBef>
                <a:spcPts val="536"/>
              </a:spcBef>
              <a:spcAft>
                <a:spcPts val="0"/>
              </a:spcAft>
              <a:buSzPts val="2400"/>
              <a:buChar char="❑"/>
            </a:pPr>
            <a:r>
              <a:rPr lang="en-US"/>
              <a:t>References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5"/>
          <p:cNvSpPr txBox="1"/>
          <p:nvPr>
            <p:ph type="title"/>
          </p:nvPr>
        </p:nvSpPr>
        <p:spPr>
          <a:xfrm>
            <a:off x="457200" y="381000"/>
            <a:ext cx="8077200" cy="370042"/>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rgbClr val="632423"/>
              </a:buClr>
              <a:buSzPct val="100000"/>
              <a:buFont typeface="Arial Rounded"/>
              <a:buNone/>
            </a:pPr>
            <a:r>
              <a:rPr b="1" lang="en-US">
                <a:solidFill>
                  <a:srgbClr val="632423"/>
                </a:solidFill>
                <a:latin typeface="Arial Rounded"/>
                <a:ea typeface="Arial Rounded"/>
                <a:cs typeface="Arial Rounded"/>
                <a:sym typeface="Arial Rounded"/>
              </a:rPr>
              <a:t>Introduction</a:t>
            </a:r>
            <a:endParaRPr/>
          </a:p>
        </p:txBody>
      </p:sp>
      <p:sp>
        <p:nvSpPr>
          <p:cNvPr id="109" name="Google Shape;109;p15"/>
          <p:cNvSpPr txBox="1"/>
          <p:nvPr>
            <p:ph idx="1" type="body"/>
          </p:nvPr>
        </p:nvSpPr>
        <p:spPr>
          <a:xfrm>
            <a:off x="457200" y="975788"/>
            <a:ext cx="8229600" cy="5127315"/>
          </a:xfrm>
          <a:prstGeom prst="rect">
            <a:avLst/>
          </a:prstGeom>
          <a:noFill/>
          <a:ln>
            <a:noFill/>
          </a:ln>
        </p:spPr>
        <p:txBody>
          <a:bodyPr anchorCtr="0" anchor="t" bIns="45700" lIns="91425" spcFirstLastPara="1" rIns="91425" wrap="square" tIns="45700">
            <a:noAutofit/>
          </a:bodyPr>
          <a:lstStyle/>
          <a:p>
            <a:pPr indent="-381000" lvl="0" marL="457200" rtl="0" algn="l">
              <a:spcBef>
                <a:spcPts val="480"/>
              </a:spcBef>
              <a:spcAft>
                <a:spcPts val="0"/>
              </a:spcAft>
              <a:buSzPts val="2400"/>
              <a:buChar char="❑"/>
            </a:pPr>
            <a:r>
              <a:rPr b="0" lang="en-US" sz="1400"/>
              <a:t>Retail demand forecasting is critical for driving inventory decisions, cost efficiency, and service levels.</a:t>
            </a:r>
            <a:endParaRPr b="0" sz="1400"/>
          </a:p>
          <a:p>
            <a:pPr indent="-381000" lvl="0" marL="457200" rtl="0" algn="l">
              <a:spcBef>
                <a:spcPts val="480"/>
              </a:spcBef>
              <a:spcAft>
                <a:spcPts val="0"/>
              </a:spcAft>
              <a:buSzPts val="2400"/>
              <a:buChar char="❑"/>
            </a:pPr>
            <a:r>
              <a:rPr b="0" lang="en-US" sz="1400"/>
              <a:t>Traditional forecasting models optimize accuracy metrics (MAE, RMSE) but ignore the actual cost consequences of stockouts and overstock.</a:t>
            </a:r>
            <a:endParaRPr b="0" sz="1400"/>
          </a:p>
          <a:p>
            <a:pPr indent="-381000" lvl="0" marL="457200" rtl="0" algn="l">
              <a:spcBef>
                <a:spcPts val="480"/>
              </a:spcBef>
              <a:spcAft>
                <a:spcPts val="0"/>
              </a:spcAft>
              <a:buSzPts val="2400"/>
              <a:buChar char="❑"/>
            </a:pPr>
            <a:r>
              <a:rPr b="0" lang="en-US" sz="1400"/>
              <a:t>Retail demand is uncertain, seasonal, hierarchical, and price-sensitive—requiring probabilistic, not point forecasts.</a:t>
            </a:r>
            <a:endParaRPr b="0" sz="1400"/>
          </a:p>
          <a:p>
            <a:pPr indent="-381000" lvl="0" marL="457200" rtl="0" algn="l">
              <a:spcBef>
                <a:spcPts val="480"/>
              </a:spcBef>
              <a:spcAft>
                <a:spcPts val="0"/>
              </a:spcAft>
              <a:buSzPts val="2400"/>
              <a:buChar char="❑"/>
            </a:pPr>
            <a:r>
              <a:rPr b="0" lang="en-US" sz="1400"/>
              <a:t>The M5 Walmart dataset provides a rich, real-world environment for evaluating advanced forecasting systems.</a:t>
            </a:r>
            <a:endParaRPr b="0" sz="1400"/>
          </a:p>
          <a:p>
            <a:pPr indent="-381000" lvl="0" marL="457200" rtl="0" algn="l">
              <a:spcBef>
                <a:spcPts val="480"/>
              </a:spcBef>
              <a:spcAft>
                <a:spcPts val="0"/>
              </a:spcAft>
              <a:buSzPts val="2400"/>
              <a:buChar char="❑"/>
            </a:pPr>
            <a:r>
              <a:rPr b="0" lang="en-US" sz="1400"/>
              <a:t>This work develops a decision-focused probabilistic forecasting framework that directly optimizes inventory costs rather than just prediction error.</a:t>
            </a:r>
            <a:endParaRPr b="0" sz="1400"/>
          </a:p>
          <a:p>
            <a:pPr indent="0" lvl="0" marL="0" rtl="0" algn="l">
              <a:lnSpc>
                <a:spcPct val="100000"/>
              </a:lnSpc>
              <a:spcBef>
                <a:spcPts val="480"/>
              </a:spcBef>
              <a:spcAft>
                <a:spcPts val="0"/>
              </a:spcAft>
              <a:buNone/>
            </a:pPr>
            <a:r>
              <a:t/>
            </a:r>
            <a:endParaRPr b="0" sz="1400"/>
          </a:p>
          <a:p>
            <a:pPr indent="0" lvl="0" marL="76200" rtl="0" algn="l">
              <a:lnSpc>
                <a:spcPct val="100000"/>
              </a:lnSpc>
              <a:spcBef>
                <a:spcPts val="480"/>
              </a:spcBef>
              <a:spcAft>
                <a:spcPts val="0"/>
              </a:spcAft>
              <a:buSzPts val="2400"/>
              <a:buNone/>
            </a:pPr>
            <a:r>
              <a:t/>
            </a:r>
            <a:endParaRPr sz="1400"/>
          </a:p>
        </p:txBody>
      </p:sp>
      <p:pic>
        <p:nvPicPr>
          <p:cNvPr id="110" name="Google Shape;110;p15" title="132e12_849baf6a1e2d4d278f1ac35df3d2b637~mv2.png"/>
          <p:cNvPicPr preferRelativeResize="0"/>
          <p:nvPr/>
        </p:nvPicPr>
        <p:blipFill>
          <a:blip r:embed="rId3">
            <a:alphaModFix/>
          </a:blip>
          <a:stretch>
            <a:fillRect/>
          </a:stretch>
        </p:blipFill>
        <p:spPr>
          <a:xfrm>
            <a:off x="1890450" y="4262175"/>
            <a:ext cx="4345149" cy="1950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6"/>
          <p:cNvSpPr txBox="1"/>
          <p:nvPr>
            <p:ph type="title"/>
          </p:nvPr>
        </p:nvSpPr>
        <p:spPr>
          <a:xfrm>
            <a:off x="457200" y="381000"/>
            <a:ext cx="8077200" cy="370042"/>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rgbClr val="632423"/>
              </a:buClr>
              <a:buSzPct val="100000"/>
              <a:buFont typeface="Arial Rounded"/>
              <a:buNone/>
            </a:pPr>
            <a:r>
              <a:rPr b="1" lang="en-US">
                <a:solidFill>
                  <a:srgbClr val="632423"/>
                </a:solidFill>
                <a:latin typeface="Arial Rounded"/>
                <a:ea typeface="Arial Rounded"/>
                <a:cs typeface="Arial Rounded"/>
                <a:sym typeface="Arial Rounded"/>
              </a:rPr>
              <a:t>Introduction cont’d</a:t>
            </a:r>
            <a:endParaRPr/>
          </a:p>
        </p:txBody>
      </p:sp>
      <p:sp>
        <p:nvSpPr>
          <p:cNvPr id="116" name="Google Shape;116;p16"/>
          <p:cNvSpPr txBox="1"/>
          <p:nvPr>
            <p:ph idx="1" type="body"/>
          </p:nvPr>
        </p:nvSpPr>
        <p:spPr>
          <a:xfrm>
            <a:off x="457200" y="975788"/>
            <a:ext cx="8229600" cy="5127315"/>
          </a:xfrm>
          <a:prstGeom prst="rect">
            <a:avLst/>
          </a:prstGeom>
          <a:noFill/>
          <a:ln>
            <a:noFill/>
          </a:ln>
        </p:spPr>
        <p:txBody>
          <a:bodyPr anchorCtr="0" anchor="t" bIns="45700" lIns="91425" spcFirstLastPara="1" rIns="91425" wrap="square" tIns="45700">
            <a:noAutofit/>
          </a:bodyPr>
          <a:lstStyle/>
          <a:p>
            <a:pPr indent="-381000" lvl="0" marL="457200" rtl="0" algn="l">
              <a:lnSpc>
                <a:spcPct val="150000"/>
              </a:lnSpc>
              <a:spcBef>
                <a:spcPts val="480"/>
              </a:spcBef>
              <a:spcAft>
                <a:spcPts val="0"/>
              </a:spcAft>
              <a:buSzPts val="2400"/>
              <a:buChar char="❑"/>
            </a:pPr>
            <a:r>
              <a:rPr b="0" lang="en-US" sz="1800"/>
              <a:t>Despite pro</a:t>
            </a:r>
            <a:r>
              <a:rPr b="0" lang="en-US" sz="1800"/>
              <a:t>gress in ML and DL</a:t>
            </a:r>
            <a:r>
              <a:rPr b="0" lang="en-US" sz="1800"/>
              <a:t>, forecasting models rarely translate predictive accuracy into better operational decisions.</a:t>
            </a:r>
            <a:endParaRPr b="0" sz="1800"/>
          </a:p>
          <a:p>
            <a:pPr indent="-381000" lvl="0" marL="457200" rtl="0" algn="l">
              <a:lnSpc>
                <a:spcPct val="150000"/>
              </a:lnSpc>
              <a:spcBef>
                <a:spcPts val="480"/>
              </a:spcBef>
              <a:spcAft>
                <a:spcPts val="0"/>
              </a:spcAft>
              <a:buSzPts val="2400"/>
              <a:buChar char="❑"/>
            </a:pPr>
            <a:r>
              <a:rPr b="0" lang="en-US" sz="1800"/>
              <a:t>Inventory management requires balancing asymmetric costs:</a:t>
            </a:r>
            <a:endParaRPr b="0" sz="1800"/>
          </a:p>
          <a:p>
            <a:pPr indent="457200" lvl="0" marL="457200" rtl="0" algn="l">
              <a:lnSpc>
                <a:spcPct val="150000"/>
              </a:lnSpc>
              <a:spcBef>
                <a:spcPts val="480"/>
              </a:spcBef>
              <a:spcAft>
                <a:spcPts val="0"/>
              </a:spcAft>
              <a:buNone/>
            </a:pPr>
            <a:r>
              <a:rPr i="1" lang="en-US" sz="1600"/>
              <a:t>Stockouts → lost sales, customer dissatisfaction, service failure</a:t>
            </a:r>
            <a:endParaRPr i="1" sz="1600"/>
          </a:p>
          <a:p>
            <a:pPr indent="457200" lvl="0" marL="457200" rtl="0" algn="l">
              <a:lnSpc>
                <a:spcPct val="150000"/>
              </a:lnSpc>
              <a:spcBef>
                <a:spcPts val="480"/>
              </a:spcBef>
              <a:spcAft>
                <a:spcPts val="0"/>
              </a:spcAft>
              <a:buNone/>
            </a:pPr>
            <a:r>
              <a:rPr i="1" lang="en-US" sz="1600"/>
              <a:t>Overstock → holding costs, waste, markdown losses</a:t>
            </a:r>
            <a:endParaRPr i="1" sz="1600"/>
          </a:p>
          <a:p>
            <a:pPr indent="-381000" lvl="0" marL="457200" rtl="0" algn="l">
              <a:lnSpc>
                <a:spcPct val="150000"/>
              </a:lnSpc>
              <a:spcBef>
                <a:spcPts val="480"/>
              </a:spcBef>
              <a:spcAft>
                <a:spcPts val="0"/>
              </a:spcAft>
              <a:buSzPts val="2400"/>
              <a:buChar char="❑"/>
            </a:pPr>
            <a:r>
              <a:rPr b="0" lang="en-US" sz="1800"/>
              <a:t>Probabilistic forecasts quantify uncertainty, but without decision-aligned training, we often misrepresent the true risk structure retailers face.</a:t>
            </a:r>
            <a:endParaRPr b="0" sz="1800"/>
          </a:p>
          <a:p>
            <a:pPr indent="-381000" lvl="0" marL="457200" rtl="0" algn="l">
              <a:lnSpc>
                <a:spcPct val="150000"/>
              </a:lnSpc>
              <a:spcBef>
                <a:spcPts val="480"/>
              </a:spcBef>
              <a:spcAft>
                <a:spcPts val="0"/>
              </a:spcAft>
              <a:buSzPts val="2400"/>
              <a:buChar char="❑"/>
            </a:pPr>
            <a:r>
              <a:rPr b="0" lang="en-US" sz="1800"/>
              <a:t>We look to integrate the operational cost function directly into the model, ensuring predictions are optimized for real economic impact.</a:t>
            </a:r>
            <a:endParaRPr b="0" sz="1800"/>
          </a:p>
          <a:p>
            <a:pPr indent="-381000" lvl="0" marL="457200" rtl="0" algn="l">
              <a:lnSpc>
                <a:spcPct val="150000"/>
              </a:lnSpc>
              <a:spcBef>
                <a:spcPts val="480"/>
              </a:spcBef>
              <a:spcAft>
                <a:spcPts val="0"/>
              </a:spcAft>
              <a:buSzPts val="2400"/>
              <a:buChar char="❑"/>
            </a:pPr>
            <a:r>
              <a:rPr b="0" lang="en-US" sz="1800"/>
              <a:t>This research positions decision-focused forecasting as a practical shift from “predicting well” to “deciding optimally under uncertainty.”</a:t>
            </a:r>
            <a:endParaRPr b="0" sz="1800"/>
          </a:p>
          <a:p>
            <a:pPr indent="0" lvl="0" marL="76200" rtl="0" algn="l">
              <a:lnSpc>
                <a:spcPct val="150000"/>
              </a:lnSpc>
              <a:spcBef>
                <a:spcPts val="480"/>
              </a:spcBef>
              <a:spcAft>
                <a:spcPts val="0"/>
              </a:spcAft>
              <a:buSzPts val="2400"/>
              <a:buNone/>
            </a:pPr>
            <a:br>
              <a:rPr lang="en-US" sz="1800"/>
            </a:b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7"/>
          <p:cNvSpPr txBox="1"/>
          <p:nvPr>
            <p:ph type="title"/>
          </p:nvPr>
        </p:nvSpPr>
        <p:spPr>
          <a:xfrm>
            <a:off x="457200" y="381000"/>
            <a:ext cx="8077200" cy="370042"/>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rgbClr val="002060"/>
              </a:buClr>
              <a:buSzPct val="100000"/>
              <a:buFont typeface="Arial"/>
              <a:buNone/>
            </a:pPr>
            <a:r>
              <a:rPr lang="en-US"/>
              <a:t>Problem Statement</a:t>
            </a:r>
            <a:endParaRPr/>
          </a:p>
        </p:txBody>
      </p:sp>
      <p:sp>
        <p:nvSpPr>
          <p:cNvPr id="122" name="Google Shape;122;p17"/>
          <p:cNvSpPr txBox="1"/>
          <p:nvPr>
            <p:ph idx="1" type="body"/>
          </p:nvPr>
        </p:nvSpPr>
        <p:spPr>
          <a:xfrm>
            <a:off x="457200" y="865350"/>
            <a:ext cx="9390600" cy="5127300"/>
          </a:xfrm>
          <a:prstGeom prst="rect">
            <a:avLst/>
          </a:prstGeom>
          <a:noFill/>
          <a:ln>
            <a:noFill/>
          </a:ln>
        </p:spPr>
        <p:txBody>
          <a:bodyPr anchorCtr="0" anchor="t" bIns="45700" lIns="91425" spcFirstLastPara="1" rIns="91425" wrap="square" tIns="45700">
            <a:noAutofit/>
          </a:bodyPr>
          <a:lstStyle/>
          <a:p>
            <a:pPr indent="0" lvl="0" marL="0" marR="914400" rtl="0" algn="just">
              <a:lnSpc>
                <a:spcPct val="97000"/>
              </a:lnSpc>
              <a:spcBef>
                <a:spcPts val="0"/>
              </a:spcBef>
              <a:spcAft>
                <a:spcPts val="0"/>
              </a:spcAft>
              <a:buNone/>
            </a:pPr>
            <a:r>
              <a:rPr b="0" lang="en-US" sz="1600"/>
              <a:t>Traditional forecasting systems optimize for statistical accuracy metrics:</a:t>
            </a:r>
            <a:endParaRPr b="0" sz="1600"/>
          </a:p>
          <a:p>
            <a:pPr indent="-330200" lvl="0" marL="914400" marR="914400" rtl="0" algn="just">
              <a:lnSpc>
                <a:spcPct val="97000"/>
              </a:lnSpc>
              <a:spcBef>
                <a:spcPts val="0"/>
              </a:spcBef>
              <a:spcAft>
                <a:spcPts val="0"/>
              </a:spcAft>
              <a:buSzPts val="1600"/>
              <a:buChar char="➔"/>
            </a:pPr>
            <a:r>
              <a:rPr b="0" lang="en-US" sz="1600"/>
              <a:t> MAE, RMSE</a:t>
            </a:r>
            <a:endParaRPr b="0" sz="1600"/>
          </a:p>
          <a:p>
            <a:pPr indent="-330200" lvl="0" marL="914400" marR="914400" rtl="0" algn="just">
              <a:lnSpc>
                <a:spcPct val="97000"/>
              </a:lnSpc>
              <a:spcBef>
                <a:spcPts val="0"/>
              </a:spcBef>
              <a:spcAft>
                <a:spcPts val="0"/>
              </a:spcAft>
              <a:buSzPts val="1600"/>
              <a:buChar char="➔"/>
            </a:pPr>
            <a:r>
              <a:rPr b="0" lang="en-US" sz="1600"/>
              <a:t>These models excel at minimizing prediction error but fail to account for the operational reality of inventory management. </a:t>
            </a:r>
            <a:endParaRPr b="0" sz="1600"/>
          </a:p>
          <a:p>
            <a:pPr indent="0" lvl="0" marL="0" marR="914400" rtl="0" algn="just">
              <a:lnSpc>
                <a:spcPct val="97000"/>
              </a:lnSpc>
              <a:spcBef>
                <a:spcPts val="0"/>
              </a:spcBef>
              <a:spcAft>
                <a:spcPts val="0"/>
              </a:spcAft>
              <a:buNone/>
            </a:pPr>
            <a:r>
              <a:rPr b="0" lang="en-US" sz="1600"/>
              <a:t>The Core Problem:</a:t>
            </a:r>
            <a:endParaRPr b="0" sz="1600"/>
          </a:p>
          <a:p>
            <a:pPr indent="-330200" lvl="0" marL="457200" marR="914400" rtl="0" algn="just">
              <a:lnSpc>
                <a:spcPct val="97000"/>
              </a:lnSpc>
              <a:spcBef>
                <a:spcPts val="0"/>
              </a:spcBef>
              <a:spcAft>
                <a:spcPts val="0"/>
              </a:spcAft>
              <a:buSzPts val="1600"/>
              <a:buChar char="❖"/>
            </a:pPr>
            <a:r>
              <a:rPr b="0" lang="en-US" sz="1600"/>
              <a:t>Business value in supply chains derives not from forecast accuracy alone, but from the inventory decisions these forecasts inform. Supply chain decisions face asymmetric costs:</a:t>
            </a:r>
            <a:endParaRPr b="0" sz="1600"/>
          </a:p>
          <a:p>
            <a:pPr indent="-330200" lvl="1" marL="914400" marR="914400" rtl="0" algn="just">
              <a:lnSpc>
                <a:spcPct val="97000"/>
              </a:lnSpc>
              <a:spcBef>
                <a:spcPts val="0"/>
              </a:spcBef>
              <a:spcAft>
                <a:spcPts val="0"/>
              </a:spcAft>
              <a:buSzPts val="1600"/>
              <a:buChar char="➢"/>
            </a:pPr>
            <a:r>
              <a:rPr b="0" lang="en-US" sz="1600"/>
              <a:t>Stockouts incur lost sales, customer dissatisfaction, brand damage</a:t>
            </a:r>
            <a:endParaRPr b="0" sz="1600"/>
          </a:p>
          <a:p>
            <a:pPr indent="-330200" lvl="1" marL="914400" marR="914400" rtl="0" algn="just">
              <a:lnSpc>
                <a:spcPct val="97000"/>
              </a:lnSpc>
              <a:spcBef>
                <a:spcPts val="0"/>
              </a:spcBef>
              <a:spcAft>
                <a:spcPts val="0"/>
              </a:spcAft>
              <a:buSzPts val="1600"/>
              <a:buChar char="➢"/>
            </a:pPr>
            <a:r>
              <a:rPr b="0" lang="en-US" sz="1600"/>
              <a:t>Overstocking → working capital, increases holding costs, and risks product obsolescence</a:t>
            </a:r>
            <a:endParaRPr b="0" sz="1600"/>
          </a:p>
          <a:p>
            <a:pPr indent="-330200" lvl="0" marL="457200" marR="914400" rtl="0" algn="just">
              <a:lnSpc>
                <a:spcPct val="97000"/>
              </a:lnSpc>
              <a:spcBef>
                <a:spcPts val="0"/>
              </a:spcBef>
              <a:spcAft>
                <a:spcPts val="0"/>
              </a:spcAft>
              <a:buSzPts val="1600"/>
              <a:buChar char="❖"/>
            </a:pPr>
            <a:r>
              <a:rPr b="0" lang="en-US" sz="1600"/>
              <a:t>The Critical Gap:</a:t>
            </a:r>
            <a:endParaRPr b="0" sz="1600"/>
          </a:p>
          <a:p>
            <a:pPr indent="-330200" lvl="1" marL="914400" marR="914400" rtl="0" algn="just">
              <a:lnSpc>
                <a:spcPct val="97000"/>
              </a:lnSpc>
              <a:spcBef>
                <a:spcPts val="0"/>
              </a:spcBef>
              <a:spcAft>
                <a:spcPts val="0"/>
              </a:spcAft>
              <a:buSzPts val="1600"/>
              <a:buChar char="➢"/>
            </a:pPr>
            <a:r>
              <a:rPr b="0" lang="en-US" sz="1600"/>
              <a:t>A forecast with low statistical error may still lead to suboptimal—even costly—inventory decisions if the model is not aligned with the actual operational objective. </a:t>
            </a:r>
            <a:endParaRPr b="0" sz="1600"/>
          </a:p>
          <a:p>
            <a:pPr indent="-330200" lvl="1" marL="914400" marR="914400" rtl="0" algn="just">
              <a:lnSpc>
                <a:spcPct val="97000"/>
              </a:lnSpc>
              <a:spcBef>
                <a:spcPts val="0"/>
              </a:spcBef>
              <a:spcAft>
                <a:spcPts val="0"/>
              </a:spcAft>
              <a:buSzPts val="1600"/>
              <a:buChar char="➢"/>
            </a:pPr>
            <a:r>
              <a:rPr b="0" lang="en-US" sz="1600"/>
              <a:t>Current 2 stage approaches (predict-then-optimize) optimize the wrong objective function, leading to a misalignment between forecast quality and decision quality.</a:t>
            </a:r>
            <a:endParaRPr b="0" sz="1600"/>
          </a:p>
          <a:p>
            <a:pPr indent="-330200" lvl="0" marL="457200" marR="914400" rtl="0" algn="just">
              <a:lnSpc>
                <a:spcPct val="97000"/>
              </a:lnSpc>
              <a:spcBef>
                <a:spcPts val="0"/>
              </a:spcBef>
              <a:spcAft>
                <a:spcPts val="0"/>
              </a:spcAft>
              <a:buSzPts val="1600"/>
              <a:buChar char="❖"/>
            </a:pPr>
            <a:r>
              <a:rPr b="0" lang="en-US" sz="1600"/>
              <a:t>The Challenge:</a:t>
            </a:r>
            <a:endParaRPr b="0" sz="1600"/>
          </a:p>
          <a:p>
            <a:pPr indent="-330200" lvl="1" marL="914400" marR="914400" rtl="0" algn="just">
              <a:lnSpc>
                <a:spcPct val="97000"/>
              </a:lnSpc>
              <a:spcBef>
                <a:spcPts val="0"/>
              </a:spcBef>
              <a:spcAft>
                <a:spcPts val="0"/>
              </a:spcAft>
              <a:buSzPts val="1600"/>
              <a:buChar char="➢"/>
            </a:pPr>
            <a:r>
              <a:rPr b="0" i="1" lang="en-US" sz="1600"/>
              <a:t>Can we train forecasting models that directly optimize for downstream operational costs rather than statistical accuracy, while still maintaining probabilistic calibration and forecast coherence across hierarchical product structures?</a:t>
            </a:r>
            <a:endParaRPr b="0" i="1" sz="1600"/>
          </a:p>
          <a:p>
            <a:pPr indent="-330200" lvl="0" marL="457200" marR="914400" rtl="0" algn="just">
              <a:lnSpc>
                <a:spcPct val="97000"/>
              </a:lnSpc>
              <a:spcBef>
                <a:spcPts val="0"/>
              </a:spcBef>
              <a:spcAft>
                <a:spcPts val="0"/>
              </a:spcAft>
              <a:buSzPts val="1600"/>
              <a:buChar char="❖"/>
            </a:pPr>
            <a:r>
              <a:t/>
            </a:r>
            <a:endParaRPr b="0"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8"/>
          <p:cNvSpPr txBox="1"/>
          <p:nvPr>
            <p:ph type="title"/>
          </p:nvPr>
        </p:nvSpPr>
        <p:spPr>
          <a:xfrm>
            <a:off x="457200" y="381000"/>
            <a:ext cx="8077200" cy="37004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2060"/>
              </a:buClr>
              <a:buSzPts val="3240"/>
              <a:buFont typeface="Arial"/>
              <a:buNone/>
            </a:pPr>
            <a:r>
              <a:rPr lang="en-US" sz="3040"/>
              <a:t>Re</a:t>
            </a:r>
            <a:r>
              <a:rPr lang="en-US" sz="3040"/>
              <a:t>lated Works</a:t>
            </a:r>
            <a:endParaRPr sz="2840"/>
          </a:p>
        </p:txBody>
      </p:sp>
      <p:sp>
        <p:nvSpPr>
          <p:cNvPr id="128" name="Google Shape;128;p18"/>
          <p:cNvSpPr txBox="1"/>
          <p:nvPr>
            <p:ph idx="1" type="body"/>
          </p:nvPr>
        </p:nvSpPr>
        <p:spPr>
          <a:xfrm>
            <a:off x="457200" y="975800"/>
            <a:ext cx="4190400" cy="5127300"/>
          </a:xfrm>
          <a:prstGeom prst="rect">
            <a:avLst/>
          </a:prstGeom>
          <a:noFill/>
          <a:ln>
            <a:noFill/>
          </a:ln>
        </p:spPr>
        <p:txBody>
          <a:bodyPr anchorCtr="0" anchor="t" bIns="45700" lIns="91425" spcFirstLastPara="1" rIns="91425" wrap="square" tIns="45700">
            <a:noAutofit/>
          </a:bodyPr>
          <a:lstStyle/>
          <a:p>
            <a:pPr indent="0" lvl="0" marL="76200" rtl="0" algn="l">
              <a:spcBef>
                <a:spcPts val="480"/>
              </a:spcBef>
              <a:spcAft>
                <a:spcPts val="0"/>
              </a:spcAft>
              <a:buSzPts val="1100"/>
              <a:buNone/>
            </a:pPr>
            <a:r>
              <a:rPr b="0" lang="en-US" sz="1600">
                <a:latin typeface="Times New Roman"/>
                <a:ea typeface="Times New Roman"/>
                <a:cs typeface="Times New Roman"/>
                <a:sym typeface="Times New Roman"/>
              </a:rPr>
              <a:t>Traditional probabilistic forecasting:</a:t>
            </a:r>
            <a:endParaRPr b="0" sz="1600">
              <a:latin typeface="Times New Roman"/>
              <a:ea typeface="Times New Roman"/>
              <a:cs typeface="Times New Roman"/>
              <a:sym typeface="Times New Roman"/>
            </a:endParaRPr>
          </a:p>
          <a:p>
            <a:pPr indent="-330200" lvl="0" marL="457200" rtl="0" algn="l">
              <a:spcBef>
                <a:spcPts val="480"/>
              </a:spcBef>
              <a:spcAft>
                <a:spcPts val="0"/>
              </a:spcAft>
              <a:buSzPts val="1600"/>
              <a:buFont typeface="Times New Roman"/>
              <a:buChar char="★"/>
            </a:pPr>
            <a:r>
              <a:rPr b="0" lang="en-US" sz="1600">
                <a:latin typeface="Times New Roman"/>
                <a:ea typeface="Times New Roman"/>
                <a:cs typeface="Times New Roman"/>
                <a:sym typeface="Times New Roman"/>
              </a:rPr>
              <a:t>optimizes proper scoring rules to produce well-calibrated predictive distributions. Koenker and Bassett (1978) introduced quantile regression with pinball loss, which has become the standard approach for estimating conditional quantiles. </a:t>
            </a:r>
            <a:endParaRPr b="0" sz="1600">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b="0" lang="en-US" sz="1600">
                <a:latin typeface="Times New Roman"/>
                <a:ea typeface="Times New Roman"/>
                <a:cs typeface="Times New Roman"/>
                <a:sym typeface="Times New Roman"/>
              </a:rPr>
              <a:t>Gneiting and Raftery (2007) formalized the framework of strictly proper scoring rules, including the Continuous Ranked Probability Score (CRPS), which evaluates the full predictive distribution rather than individual quantiles.</a:t>
            </a:r>
            <a:endParaRPr b="0" sz="1600">
              <a:latin typeface="Times New Roman"/>
              <a:ea typeface="Times New Roman"/>
              <a:cs typeface="Times New Roman"/>
              <a:sym typeface="Times New Roman"/>
            </a:endParaRPr>
          </a:p>
          <a:p>
            <a:pPr indent="0" lvl="0" marL="76200" rtl="0" algn="l">
              <a:spcBef>
                <a:spcPts val="480"/>
              </a:spcBef>
              <a:spcAft>
                <a:spcPts val="0"/>
              </a:spcAft>
              <a:buClr>
                <a:schemeClr val="dk1"/>
              </a:buClr>
              <a:buSzPts val="1100"/>
              <a:buFont typeface="Arial"/>
              <a:buNone/>
            </a:pPr>
            <a:r>
              <a:rPr b="0" lang="en-US" sz="1600">
                <a:latin typeface="Times New Roman"/>
                <a:ea typeface="Times New Roman"/>
                <a:cs typeface="Times New Roman"/>
                <a:sym typeface="Times New Roman"/>
              </a:rPr>
              <a:t>These methods excel at producing statistically calibrated forecasts—ensuring that predicted quantiles match empirical coverage rates—but they do not optimize operational objectives. A model trained on pinball loss minimizes quantile prediction error without considering the asymmetric costs of inventory decisions.</a:t>
            </a:r>
            <a:endParaRPr b="0" sz="1600">
              <a:latin typeface="Times New Roman"/>
              <a:ea typeface="Times New Roman"/>
              <a:cs typeface="Times New Roman"/>
              <a:sym typeface="Times New Roman"/>
            </a:endParaRPr>
          </a:p>
          <a:p>
            <a:pPr indent="0" lvl="0" marL="76200" rtl="0" algn="l">
              <a:lnSpc>
                <a:spcPct val="100000"/>
              </a:lnSpc>
              <a:spcBef>
                <a:spcPts val="480"/>
              </a:spcBef>
              <a:spcAft>
                <a:spcPts val="0"/>
              </a:spcAft>
              <a:buSzPts val="2400"/>
              <a:buNone/>
            </a:pPr>
            <a:r>
              <a:t/>
            </a:r>
            <a:endParaRPr b="0" sz="1600">
              <a:latin typeface="Times New Roman"/>
              <a:ea typeface="Times New Roman"/>
              <a:cs typeface="Times New Roman"/>
              <a:sym typeface="Times New Roman"/>
            </a:endParaRPr>
          </a:p>
        </p:txBody>
      </p:sp>
      <p:sp>
        <p:nvSpPr>
          <p:cNvPr id="129" name="Google Shape;129;p18"/>
          <p:cNvSpPr txBox="1"/>
          <p:nvPr>
            <p:ph idx="1" type="body"/>
          </p:nvPr>
        </p:nvSpPr>
        <p:spPr>
          <a:xfrm>
            <a:off x="4953600" y="1128200"/>
            <a:ext cx="4190400" cy="5444700"/>
          </a:xfrm>
          <a:prstGeom prst="rect">
            <a:avLst/>
          </a:prstGeom>
          <a:noFill/>
          <a:ln>
            <a:noFill/>
          </a:ln>
        </p:spPr>
        <p:txBody>
          <a:bodyPr anchorCtr="0" anchor="t" bIns="45700" lIns="91425" spcFirstLastPara="1" rIns="91425" wrap="square" tIns="45700">
            <a:noAutofit/>
          </a:bodyPr>
          <a:lstStyle/>
          <a:p>
            <a:pPr indent="0" lvl="0" marL="76200" rtl="0" algn="l">
              <a:spcBef>
                <a:spcPts val="480"/>
              </a:spcBef>
              <a:spcAft>
                <a:spcPts val="0"/>
              </a:spcAft>
              <a:buClr>
                <a:schemeClr val="dk1"/>
              </a:buClr>
              <a:buSzPts val="1100"/>
              <a:buFont typeface="Arial"/>
              <a:buNone/>
            </a:pPr>
            <a:r>
              <a:rPr b="0" lang="en-US" sz="1600">
                <a:latin typeface="Times New Roman"/>
                <a:ea typeface="Times New Roman"/>
                <a:cs typeface="Times New Roman"/>
                <a:sym typeface="Times New Roman"/>
              </a:rPr>
              <a:t>Decision-Focused Learning:</a:t>
            </a:r>
            <a:endParaRPr b="0" sz="1600">
              <a:latin typeface="Times New Roman"/>
              <a:ea typeface="Times New Roman"/>
              <a:cs typeface="Times New Roman"/>
              <a:sym typeface="Times New Roman"/>
            </a:endParaRPr>
          </a:p>
          <a:p>
            <a:pPr indent="-330200" lvl="0" marL="457200" rtl="0" algn="l">
              <a:spcBef>
                <a:spcPts val="480"/>
              </a:spcBef>
              <a:spcAft>
                <a:spcPts val="0"/>
              </a:spcAft>
              <a:buSzPts val="1600"/>
              <a:buFont typeface="Times New Roman"/>
              <a:buChar char="★"/>
            </a:pPr>
            <a:r>
              <a:rPr b="0" lang="en-US" sz="1600">
                <a:latin typeface="Times New Roman"/>
                <a:ea typeface="Times New Roman"/>
                <a:cs typeface="Times New Roman"/>
                <a:sym typeface="Times New Roman"/>
              </a:rPr>
              <a:t>Elmachtoub and Grigas (2022) introduced the </a:t>
            </a:r>
            <a:r>
              <a:rPr i="1" lang="en-US" sz="1600">
                <a:latin typeface="Times New Roman"/>
                <a:ea typeface="Times New Roman"/>
                <a:cs typeface="Times New Roman"/>
                <a:sym typeface="Times New Roman"/>
              </a:rPr>
              <a:t>"predict-then-optimize"</a:t>
            </a:r>
            <a:r>
              <a:rPr b="0" lang="en-US" sz="1600">
                <a:latin typeface="Times New Roman"/>
                <a:ea typeface="Times New Roman"/>
                <a:cs typeface="Times New Roman"/>
                <a:sym typeface="Times New Roman"/>
              </a:rPr>
              <a:t> framework, demonstrating that training predictive models to directly minimize downstream decision costs consistently outperforms traditional two-stage approaches where prediction and optimization are decoupled. </a:t>
            </a:r>
            <a:endParaRPr b="0" sz="1600">
              <a:latin typeface="Times New Roman"/>
              <a:ea typeface="Times New Roman"/>
              <a:cs typeface="Times New Roman"/>
              <a:sym typeface="Times New Roman"/>
            </a:endParaRPr>
          </a:p>
          <a:p>
            <a:pPr indent="-330200" lvl="1" marL="914400" rtl="0" algn="l">
              <a:spcBef>
                <a:spcPts val="0"/>
              </a:spcBef>
              <a:spcAft>
                <a:spcPts val="0"/>
              </a:spcAft>
              <a:buSzPts val="1600"/>
              <a:buFont typeface="Times New Roman"/>
              <a:buChar char="○"/>
            </a:pPr>
            <a:r>
              <a:rPr b="0" lang="en-US" sz="1600">
                <a:latin typeface="Times New Roman"/>
                <a:ea typeface="Times New Roman"/>
                <a:cs typeface="Times New Roman"/>
                <a:sym typeface="Times New Roman"/>
              </a:rPr>
              <a:t>Their smart "predict-then-optimize" method computes gradients through optimization problems, enabling end-to-end learning.</a:t>
            </a:r>
            <a:endParaRPr b="0" sz="1600">
              <a:latin typeface="Times New Roman"/>
              <a:ea typeface="Times New Roman"/>
              <a:cs typeface="Times New Roman"/>
              <a:sym typeface="Times New Roman"/>
            </a:endParaRPr>
          </a:p>
          <a:p>
            <a:pPr indent="0" lvl="0" marL="76200" rtl="0" algn="l">
              <a:spcBef>
                <a:spcPts val="480"/>
              </a:spcBef>
              <a:spcAft>
                <a:spcPts val="0"/>
              </a:spcAft>
              <a:buSzPts val="1100"/>
              <a:buNone/>
            </a:pPr>
            <a:r>
              <a:rPr b="0" lang="en-US" sz="1600">
                <a:latin typeface="Times New Roman"/>
                <a:ea typeface="Times New Roman"/>
                <a:cs typeface="Times New Roman"/>
                <a:sym typeface="Times New Roman"/>
              </a:rPr>
              <a:t>This framework has been applied to </a:t>
            </a:r>
            <a:endParaRPr b="0" sz="1600">
              <a:latin typeface="Times New Roman"/>
              <a:ea typeface="Times New Roman"/>
              <a:cs typeface="Times New Roman"/>
              <a:sym typeface="Times New Roman"/>
            </a:endParaRPr>
          </a:p>
          <a:p>
            <a:pPr indent="0" lvl="0" marL="76200" rtl="0" algn="l">
              <a:spcBef>
                <a:spcPts val="480"/>
              </a:spcBef>
              <a:spcAft>
                <a:spcPts val="0"/>
              </a:spcAft>
              <a:buSzPts val="1100"/>
              <a:buNone/>
            </a:pPr>
            <a:r>
              <a:rPr lang="en-US" sz="1600">
                <a:latin typeface="Times New Roman"/>
                <a:ea typeface="Times New Roman"/>
                <a:cs typeface="Times New Roman"/>
                <a:sym typeface="Times New Roman"/>
              </a:rPr>
              <a:t>portfolio optimization, energy scheduling, and routing problems. </a:t>
            </a:r>
            <a:endParaRPr sz="1600">
              <a:latin typeface="Times New Roman"/>
              <a:ea typeface="Times New Roman"/>
              <a:cs typeface="Times New Roman"/>
              <a:sym typeface="Times New Roman"/>
            </a:endParaRPr>
          </a:p>
          <a:p>
            <a:pPr indent="0" lvl="0" marL="0" rtl="0" algn="l">
              <a:spcBef>
                <a:spcPts val="480"/>
              </a:spcBef>
              <a:spcAft>
                <a:spcPts val="0"/>
              </a:spcAft>
              <a:buClr>
                <a:schemeClr val="dk1"/>
              </a:buClr>
              <a:buSzPts val="1100"/>
              <a:buFont typeface="Arial"/>
              <a:buNone/>
            </a:pPr>
            <a:r>
              <a:rPr b="0" lang="en-US" sz="1600">
                <a:latin typeface="Times New Roman"/>
                <a:ea typeface="Times New Roman"/>
                <a:cs typeface="Times New Roman"/>
                <a:sym typeface="Times New Roman"/>
              </a:rPr>
              <a:t>This work extends decision-focused learning to probabilistic demand forecasting under newsvendor objectives, incorporating contextual service levels and hierarchical product structures unique to retail supply chains.</a:t>
            </a:r>
            <a:endParaRPr b="0" sz="1600">
              <a:latin typeface="Times New Roman"/>
              <a:ea typeface="Times New Roman"/>
              <a:cs typeface="Times New Roman"/>
              <a:sym typeface="Times New Roman"/>
            </a:endParaRPr>
          </a:p>
          <a:p>
            <a:pPr indent="0" lvl="0" marL="76200" rtl="0" algn="l">
              <a:lnSpc>
                <a:spcPct val="100000"/>
              </a:lnSpc>
              <a:spcBef>
                <a:spcPts val="480"/>
              </a:spcBef>
              <a:spcAft>
                <a:spcPts val="0"/>
              </a:spcAft>
              <a:buSzPts val="2400"/>
              <a:buNone/>
            </a:pPr>
            <a:r>
              <a:t/>
            </a:r>
            <a:endParaRPr b="0" sz="1600">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9"/>
          <p:cNvSpPr txBox="1"/>
          <p:nvPr>
            <p:ph type="title"/>
          </p:nvPr>
        </p:nvSpPr>
        <p:spPr>
          <a:xfrm>
            <a:off x="457200" y="381000"/>
            <a:ext cx="8077200" cy="370042"/>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rgbClr val="002060"/>
              </a:buClr>
              <a:buSzPct val="111111"/>
              <a:buFont typeface="Arial"/>
              <a:buNone/>
            </a:pPr>
            <a:r>
              <a:rPr lang="en-US"/>
              <a:t>Related Works (2)</a:t>
            </a:r>
            <a:endParaRPr/>
          </a:p>
        </p:txBody>
      </p:sp>
      <p:sp>
        <p:nvSpPr>
          <p:cNvPr id="135" name="Google Shape;135;p19"/>
          <p:cNvSpPr txBox="1"/>
          <p:nvPr>
            <p:ph idx="1" type="body"/>
          </p:nvPr>
        </p:nvSpPr>
        <p:spPr>
          <a:xfrm>
            <a:off x="457200" y="975788"/>
            <a:ext cx="8229600" cy="5127315"/>
          </a:xfrm>
          <a:prstGeom prst="rect">
            <a:avLst/>
          </a:prstGeom>
          <a:noFill/>
          <a:ln>
            <a:noFill/>
          </a:ln>
        </p:spPr>
        <p:txBody>
          <a:bodyPr anchorCtr="0" anchor="t" bIns="45700" lIns="91425" spcFirstLastPara="1" rIns="91425" wrap="square" tIns="45700">
            <a:noAutofit/>
          </a:bodyPr>
          <a:lstStyle/>
          <a:p>
            <a:pPr indent="0" lvl="0" marL="457200" rtl="0" algn="l">
              <a:spcBef>
                <a:spcPts val="480"/>
              </a:spcBef>
              <a:spcAft>
                <a:spcPts val="0"/>
              </a:spcAft>
              <a:buNone/>
            </a:pPr>
            <a:r>
              <a:rPr lang="en-US" sz="2100">
                <a:latin typeface="Times New Roman"/>
                <a:ea typeface="Times New Roman"/>
                <a:cs typeface="Times New Roman"/>
                <a:sym typeface="Times New Roman"/>
              </a:rPr>
              <a:t>Retail Forecasting and Neural Architectures</a:t>
            </a:r>
            <a:endParaRPr b="0" sz="1500">
              <a:latin typeface="Times New Roman"/>
              <a:ea typeface="Times New Roman"/>
              <a:cs typeface="Times New Roman"/>
              <a:sym typeface="Times New Roman"/>
            </a:endParaRPr>
          </a:p>
          <a:p>
            <a:pPr indent="-323850" lvl="0" marL="457200" rtl="0" algn="l">
              <a:spcBef>
                <a:spcPts val="480"/>
              </a:spcBef>
              <a:spcAft>
                <a:spcPts val="0"/>
              </a:spcAft>
              <a:buSzPts val="1500"/>
              <a:buFont typeface="Times New Roman"/>
              <a:buChar char="❖"/>
            </a:pPr>
            <a:r>
              <a:rPr b="0" lang="en-US" sz="1500">
                <a:latin typeface="Times New Roman"/>
                <a:ea typeface="Times New Roman"/>
                <a:cs typeface="Times New Roman"/>
                <a:sym typeface="Times New Roman"/>
              </a:rPr>
              <a:t>The M5 Competition (Makridakis et al., 2022) established rigorous benchmarks for hierarchical retail forecasting, emphasizing both point accuracy and probabilistic calibration across thousands of products. The competition highlighted challenges in handling intermittent demand, promotional effects, and hierarchical aggregation.</a:t>
            </a:r>
            <a:endParaRPr b="0" sz="1500">
              <a:latin typeface="Times New Roman"/>
              <a:ea typeface="Times New Roman"/>
              <a:cs typeface="Times New Roman"/>
              <a:sym typeface="Times New Roman"/>
            </a:endParaRPr>
          </a:p>
          <a:p>
            <a:pPr indent="-323850" lvl="0" marL="457200" rtl="0" algn="l">
              <a:spcBef>
                <a:spcPts val="0"/>
              </a:spcBef>
              <a:spcAft>
                <a:spcPts val="0"/>
              </a:spcAft>
              <a:buSzPts val="1500"/>
              <a:buFont typeface="Times New Roman"/>
              <a:buChar char="❖"/>
            </a:pPr>
            <a:r>
              <a:rPr b="0" lang="en-US" sz="1500">
                <a:latin typeface="Times New Roman"/>
                <a:ea typeface="Times New Roman"/>
                <a:cs typeface="Times New Roman"/>
                <a:sym typeface="Times New Roman"/>
              </a:rPr>
              <a:t>Recent neural approaches have advanced retail forecasting capabilities. Salinas et al. (2020) developed DeepAR, an autoregressive recurrent network for probabilistic forecasting that learns across multiple related time series. Lim et al. (2021) introduced Temporal Fusion Transformers (TFT), which combine multi-horizon forecasting with interpretable attention mechanisms, variable selection, and learned embeddings for categorical features.</a:t>
            </a:r>
            <a:endParaRPr b="0" sz="1500">
              <a:latin typeface="Times New Roman"/>
              <a:ea typeface="Times New Roman"/>
              <a:cs typeface="Times New Roman"/>
              <a:sym typeface="Times New Roman"/>
            </a:endParaRPr>
          </a:p>
          <a:p>
            <a:pPr indent="0" lvl="0" marL="457200" rtl="0" algn="l">
              <a:spcBef>
                <a:spcPts val="480"/>
              </a:spcBef>
              <a:spcAft>
                <a:spcPts val="0"/>
              </a:spcAft>
              <a:buNone/>
            </a:pPr>
            <a:r>
              <a:t/>
            </a:r>
            <a:endParaRPr b="0" sz="1500">
              <a:latin typeface="Times New Roman"/>
              <a:ea typeface="Times New Roman"/>
              <a:cs typeface="Times New Roman"/>
              <a:sym typeface="Times New Roman"/>
            </a:endParaRPr>
          </a:p>
          <a:p>
            <a:pPr indent="-323850" lvl="0" marL="457200" rtl="0" algn="l">
              <a:spcBef>
                <a:spcPts val="480"/>
              </a:spcBef>
              <a:spcAft>
                <a:spcPts val="0"/>
              </a:spcAft>
              <a:buSzPts val="1500"/>
              <a:buFont typeface="Times New Roman"/>
              <a:buChar char="★"/>
            </a:pPr>
            <a:r>
              <a:rPr b="0" lang="en-US" sz="1500">
                <a:latin typeface="Times New Roman"/>
                <a:ea typeface="Times New Roman"/>
                <a:cs typeface="Times New Roman"/>
                <a:sym typeface="Times New Roman"/>
              </a:rPr>
              <a:t>These architectures provide the representational capacity for decision-focused training. We adapt both gradient-boosted methods (LightGBM) and TFT for newsvendor objectives, comparing their performance under operational cost metrics.</a:t>
            </a:r>
            <a:endParaRPr b="0" sz="1500">
              <a:latin typeface="Times New Roman"/>
              <a:ea typeface="Times New Roman"/>
              <a:cs typeface="Times New Roman"/>
              <a:sym typeface="Times New Roman"/>
            </a:endParaRPr>
          </a:p>
          <a:p>
            <a:pPr indent="0" lvl="0" marL="457200" rtl="0" algn="l">
              <a:lnSpc>
                <a:spcPct val="100000"/>
              </a:lnSpc>
              <a:spcBef>
                <a:spcPts val="480"/>
              </a:spcBef>
              <a:spcAft>
                <a:spcPts val="0"/>
              </a:spcAft>
              <a:buNone/>
            </a:pPr>
            <a:r>
              <a:t/>
            </a:r>
            <a:endParaRPr b="0" sz="150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0"/>
          <p:cNvSpPr txBox="1"/>
          <p:nvPr>
            <p:ph type="title"/>
          </p:nvPr>
        </p:nvSpPr>
        <p:spPr>
          <a:xfrm>
            <a:off x="457200" y="393289"/>
            <a:ext cx="8077200" cy="7767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3200"/>
              <a:buNone/>
            </a:pPr>
            <a:r>
              <a:rPr lang="en-US" sz="3200"/>
              <a:t>RESEARCH C</a:t>
            </a:r>
            <a:r>
              <a:rPr lang="en-US" sz="3200"/>
              <a:t>O</a:t>
            </a:r>
            <a:r>
              <a:rPr lang="en-US" sz="3200"/>
              <a:t>NTRIB</a:t>
            </a:r>
            <a:r>
              <a:rPr lang="en-US" sz="3200"/>
              <a:t>U</a:t>
            </a:r>
            <a:r>
              <a:rPr lang="en-US" sz="3200"/>
              <a:t>TION</a:t>
            </a:r>
            <a:br>
              <a:rPr lang="en-US" sz="3200"/>
            </a:br>
            <a:endParaRPr sz="3200"/>
          </a:p>
        </p:txBody>
      </p:sp>
      <p:graphicFrame>
        <p:nvGraphicFramePr>
          <p:cNvPr id="141" name="Google Shape;141;p20"/>
          <p:cNvGraphicFramePr/>
          <p:nvPr/>
        </p:nvGraphicFramePr>
        <p:xfrm>
          <a:off x="457200" y="958300"/>
          <a:ext cx="3000000" cy="3000000"/>
        </p:xfrm>
        <a:graphic>
          <a:graphicData uri="http://schemas.openxmlformats.org/drawingml/2006/table">
            <a:tbl>
              <a:tblPr>
                <a:noFill/>
                <a:tableStyleId>{BAE4D0CB-45B4-4C7B-BF53-3BBE1C227625}</a:tableStyleId>
              </a:tblPr>
              <a:tblGrid>
                <a:gridCol w="585550"/>
                <a:gridCol w="2208425"/>
                <a:gridCol w="2888975"/>
                <a:gridCol w="2662150"/>
              </a:tblGrid>
              <a:tr h="467025">
                <a:tc>
                  <a:txBody>
                    <a:bodyPr/>
                    <a:lstStyle/>
                    <a:p>
                      <a:pPr indent="0" lvl="0" marL="0" rtl="0" algn="l">
                        <a:spcBef>
                          <a:spcPts val="0"/>
                        </a:spcBef>
                        <a:spcAft>
                          <a:spcPts val="0"/>
                        </a:spcAft>
                        <a:buNone/>
                      </a:pPr>
                      <a:r>
                        <a:rPr b="1" lang="en-US"/>
                        <a:t>#</a:t>
                      </a:r>
                      <a:endParaRPr b="1"/>
                    </a:p>
                  </a:txBody>
                  <a:tcPr marT="91425" marB="91425" marR="91425" marL="91425"/>
                </a:tc>
                <a:tc>
                  <a:txBody>
                    <a:bodyPr/>
                    <a:lstStyle/>
                    <a:p>
                      <a:pPr indent="0" lvl="0" marL="0" rtl="0" algn="l">
                        <a:spcBef>
                          <a:spcPts val="0"/>
                        </a:spcBef>
                        <a:spcAft>
                          <a:spcPts val="0"/>
                        </a:spcAft>
                        <a:buNone/>
                      </a:pPr>
                      <a:r>
                        <a:rPr b="1" lang="en-US"/>
                        <a:t>Contribution </a:t>
                      </a:r>
                      <a:endParaRPr b="1"/>
                    </a:p>
                  </a:txBody>
                  <a:tcPr marT="91425" marB="91425" marR="91425" marL="91425"/>
                </a:tc>
                <a:tc>
                  <a:txBody>
                    <a:bodyPr/>
                    <a:lstStyle/>
                    <a:p>
                      <a:pPr indent="0" lvl="0" marL="0" rtl="0" algn="l">
                        <a:spcBef>
                          <a:spcPts val="0"/>
                        </a:spcBef>
                        <a:spcAft>
                          <a:spcPts val="0"/>
                        </a:spcAft>
                        <a:buNone/>
                      </a:pPr>
                      <a:r>
                        <a:rPr b="1" lang="en-US"/>
                        <a:t>Innovation</a:t>
                      </a:r>
                      <a:endParaRPr b="1"/>
                    </a:p>
                  </a:txBody>
                  <a:tcPr marT="91425" marB="91425" marR="91425" marL="91425"/>
                </a:tc>
                <a:tc>
                  <a:txBody>
                    <a:bodyPr/>
                    <a:lstStyle/>
                    <a:p>
                      <a:pPr indent="0" lvl="0" marL="0" rtl="0" algn="l">
                        <a:spcBef>
                          <a:spcPts val="0"/>
                        </a:spcBef>
                        <a:spcAft>
                          <a:spcPts val="0"/>
                        </a:spcAft>
                        <a:buNone/>
                      </a:pPr>
                      <a:r>
                        <a:rPr b="1" lang="en-US"/>
                        <a:t>Impact</a:t>
                      </a:r>
                      <a:endParaRPr b="1"/>
                    </a:p>
                  </a:txBody>
                  <a:tcPr marT="91425" marB="91425" marR="91425" marL="91425"/>
                </a:tc>
              </a:tr>
              <a:tr h="1233050">
                <a:tc>
                  <a:txBody>
                    <a:bodyPr/>
                    <a:lstStyle/>
                    <a:p>
                      <a:pPr indent="0" lvl="0" marL="0" rtl="0" algn="l">
                        <a:spcBef>
                          <a:spcPts val="0"/>
                        </a:spcBef>
                        <a:spcAft>
                          <a:spcPts val="0"/>
                        </a:spcAft>
                        <a:buNone/>
                      </a:pPr>
                      <a:r>
                        <a:rPr b="1" lang="en-US"/>
                        <a:t>1</a:t>
                      </a:r>
                      <a:endParaRPr b="1"/>
                    </a:p>
                  </a:txBody>
                  <a:tcPr marT="91425" marB="91425" marR="91425" marL="91425"/>
                </a:tc>
                <a:tc>
                  <a:txBody>
                    <a:bodyPr/>
                    <a:lstStyle/>
                    <a:p>
                      <a:pPr indent="-317500" lvl="0" marL="457200" rtl="0" algn="l">
                        <a:spcBef>
                          <a:spcPts val="0"/>
                        </a:spcBef>
                        <a:spcAft>
                          <a:spcPts val="0"/>
                        </a:spcAft>
                        <a:buSzPts val="1400"/>
                        <a:buChar char="★"/>
                      </a:pPr>
                      <a:r>
                        <a:rPr b="1" i="1" lang="en-US"/>
                        <a:t>Decision-Focused Training with Contextual Service Levels</a:t>
                      </a:r>
                      <a:endParaRPr b="1" i="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a:t>First framework to integrate learned contextual τ(xt)\tau(x_t)</a:t>
                      </a:r>
                      <a:endParaRPr/>
                    </a:p>
                    <a:p>
                      <a:pPr indent="0" lvl="0" marL="0" rtl="0" algn="l">
                        <a:spcBef>
                          <a:spcPts val="0"/>
                        </a:spcBef>
                        <a:spcAft>
                          <a:spcPts val="0"/>
                        </a:spcAft>
                        <a:buClr>
                          <a:schemeClr val="dk1"/>
                        </a:buClr>
                        <a:buSzPts val="1100"/>
                        <a:buFont typeface="Arial"/>
                        <a:buNone/>
                      </a:pPr>
                      <a:r>
                        <a:rPr lang="en-US"/>
                        <a:t>τ(xt​) into newsvendor objectives for retail forecasting</a:t>
                      </a:r>
                      <a:endParaRPr/>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US"/>
                        <a:t>Moves beyond fixed critical ratios to adaptive inventory policies that respond to product heterogeneity, seasonality, and promotions</a:t>
                      </a:r>
                      <a:endParaRPr/>
                    </a:p>
                  </a:txBody>
                  <a:tcPr marT="91425" marB="91425" marR="91425" marL="91425"/>
                </a:tc>
              </a:tr>
              <a:tr h="823375">
                <a:tc>
                  <a:txBody>
                    <a:bodyPr/>
                    <a:lstStyle/>
                    <a:p>
                      <a:pPr indent="0" lvl="0" marL="0" rtl="0" algn="l">
                        <a:spcBef>
                          <a:spcPts val="0"/>
                        </a:spcBef>
                        <a:spcAft>
                          <a:spcPts val="0"/>
                        </a:spcAft>
                        <a:buNone/>
                      </a:pPr>
                      <a:r>
                        <a:rPr b="1" lang="en-US"/>
                        <a:t>2</a:t>
                      </a:r>
                      <a:endParaRPr b="1"/>
                    </a:p>
                  </a:txBody>
                  <a:tcPr marT="91425" marB="91425" marR="91425" marL="91425"/>
                </a:tc>
                <a:tc>
                  <a:txBody>
                    <a:bodyPr/>
                    <a:lstStyle/>
                    <a:p>
                      <a:pPr indent="-317500" lvl="0" marL="457200" rtl="0" algn="l">
                        <a:spcBef>
                          <a:spcPts val="0"/>
                        </a:spcBef>
                        <a:spcAft>
                          <a:spcPts val="0"/>
                        </a:spcAft>
                        <a:buSzPts val="1400"/>
                        <a:buChar char="★"/>
                      </a:pPr>
                      <a:r>
                        <a:rPr b="1" i="1" lang="en-US"/>
                        <a:t>Unified Forecast-Decision Evaluation Protocol</a:t>
                      </a:r>
                      <a:endParaRPr b="1" i="1"/>
                    </a:p>
                  </a:txBody>
                  <a:tcPr marT="91425" marB="91425" marR="91425" marL="91425"/>
                </a:tc>
                <a:tc>
                  <a:txBody>
                    <a:bodyPr/>
                    <a:lstStyle/>
                    <a:p>
                      <a:pPr indent="0" lvl="0" marL="0" rtl="0" algn="l">
                        <a:spcBef>
                          <a:spcPts val="0"/>
                        </a:spcBef>
                        <a:spcAft>
                          <a:spcPts val="0"/>
                        </a:spcAft>
                        <a:buNone/>
                      </a:pPr>
                      <a:r>
                        <a:rPr lang="en-US"/>
                        <a:t>Couples statistical accuracy (MASE, RMSSE, CRPS) with operational metrics (cost, fill rate, stockouts) in single framework</a:t>
                      </a:r>
                      <a:endParaRPr/>
                    </a:p>
                  </a:txBody>
                  <a:tcPr marT="91425" marB="91425" marR="91425" marL="91425"/>
                </a:tc>
                <a:tc>
                  <a:txBody>
                    <a:bodyPr/>
                    <a:lstStyle/>
                    <a:p>
                      <a:pPr indent="0" lvl="0" marL="0" rtl="0" algn="l">
                        <a:spcBef>
                          <a:spcPts val="0"/>
                        </a:spcBef>
                        <a:spcAft>
                          <a:spcPts val="0"/>
                        </a:spcAft>
                        <a:buNone/>
                      </a:pPr>
                      <a:r>
                        <a:rPr lang="en-US"/>
                        <a:t>Enables direct assessment of whether forecast improvements translate to operational value—bridging research and practice</a:t>
                      </a:r>
                      <a:endParaRPr/>
                    </a:p>
                  </a:txBody>
                  <a:tcPr marT="91425" marB="91425" marR="91425" marL="91425"/>
                </a:tc>
              </a:tr>
              <a:tr h="1022525">
                <a:tc>
                  <a:txBody>
                    <a:bodyPr/>
                    <a:lstStyle/>
                    <a:p>
                      <a:pPr indent="0" lvl="0" marL="0" rtl="0" algn="l">
                        <a:spcBef>
                          <a:spcPts val="0"/>
                        </a:spcBef>
                        <a:spcAft>
                          <a:spcPts val="0"/>
                        </a:spcAft>
                        <a:buNone/>
                      </a:pPr>
                      <a:r>
                        <a:rPr b="1" lang="en-US"/>
                        <a:t>3</a:t>
                      </a:r>
                      <a:endParaRPr b="1"/>
                    </a:p>
                  </a:txBody>
                  <a:tcPr marT="91425" marB="91425" marR="91425" marL="91425"/>
                </a:tc>
                <a:tc>
                  <a:txBody>
                    <a:bodyPr/>
                    <a:lstStyle/>
                    <a:p>
                      <a:pPr indent="-317500" lvl="0" marL="457200" rtl="0" algn="l">
                        <a:spcBef>
                          <a:spcPts val="0"/>
                        </a:spcBef>
                        <a:spcAft>
                          <a:spcPts val="0"/>
                        </a:spcAft>
                        <a:buSzPts val="1400"/>
                        <a:buChar char="★"/>
                      </a:pPr>
                      <a:r>
                        <a:rPr b="1" i="1" lang="en-US"/>
                        <a:t>Hierarchical Reconciliation for Decision-Focused Forecasts</a:t>
                      </a:r>
                      <a:endParaRPr b="1" i="1"/>
                    </a:p>
                  </a:txBody>
                  <a:tcPr marT="91425" marB="91425" marR="91425" marL="91425"/>
                </a:tc>
                <a:tc>
                  <a:txBody>
                    <a:bodyPr/>
                    <a:lstStyle/>
                    <a:p>
                      <a:pPr indent="0" lvl="0" marL="0" rtl="0" algn="l">
                        <a:spcBef>
                          <a:spcPts val="0"/>
                        </a:spcBef>
                        <a:spcAft>
                          <a:spcPts val="0"/>
                        </a:spcAft>
                        <a:buNone/>
                      </a:pPr>
                      <a:r>
                        <a:rPr lang="en-US"/>
                        <a:t>Integrates both bottom-up and MinT-style reconciliation into decision-focused pipeline with coherence analysis</a:t>
                      </a:r>
                      <a:endParaRPr/>
                    </a:p>
                  </a:txBody>
                  <a:tcPr marT="91425" marB="91425" marR="91425" marL="91425"/>
                </a:tc>
                <a:tc>
                  <a:txBody>
                    <a:bodyPr/>
                    <a:lstStyle/>
                    <a:p>
                      <a:pPr indent="0" lvl="0" marL="0" rtl="0" algn="l">
                        <a:spcBef>
                          <a:spcPts val="0"/>
                        </a:spcBef>
                        <a:spcAft>
                          <a:spcPts val="0"/>
                        </a:spcAft>
                        <a:buNone/>
                      </a:pPr>
                      <a:r>
                        <a:rPr lang="en-US"/>
                        <a:t>Ensures item-level cost optimization remains coherent with department/store/state planning—critical for real supply chains</a:t>
                      </a:r>
                      <a:endParaRPr/>
                    </a:p>
                  </a:txBody>
                  <a:tcPr marT="91425" marB="91425" marR="91425" marL="91425"/>
                </a:tc>
              </a:tr>
              <a:tr h="823375">
                <a:tc>
                  <a:txBody>
                    <a:bodyPr/>
                    <a:lstStyle/>
                    <a:p>
                      <a:pPr indent="0" lvl="0" marL="0" rtl="0" algn="l">
                        <a:spcBef>
                          <a:spcPts val="0"/>
                        </a:spcBef>
                        <a:spcAft>
                          <a:spcPts val="0"/>
                        </a:spcAft>
                        <a:buNone/>
                      </a:pPr>
                      <a:r>
                        <a:rPr b="1" lang="en-US"/>
                        <a:t>4</a:t>
                      </a:r>
                      <a:endParaRPr b="1"/>
                    </a:p>
                  </a:txBody>
                  <a:tcPr marT="91425" marB="91425" marR="91425" marL="91425"/>
                </a:tc>
                <a:tc>
                  <a:txBody>
                    <a:bodyPr/>
                    <a:lstStyle/>
                    <a:p>
                      <a:pPr indent="-317500" lvl="0" marL="457200" rtl="0" algn="l">
                        <a:spcBef>
                          <a:spcPts val="0"/>
                        </a:spcBef>
                        <a:spcAft>
                          <a:spcPts val="0"/>
                        </a:spcAft>
                        <a:buSzPts val="1400"/>
                        <a:buChar char="★"/>
                      </a:pPr>
                      <a:r>
                        <a:rPr b="1" i="1" lang="en-US"/>
                        <a:t>Comprehensive Ablation Studies</a:t>
                      </a:r>
                      <a:endParaRPr b="1" i="1"/>
                    </a:p>
                  </a:txBody>
                  <a:tcPr marT="91425" marB="91425" marR="91425" marL="91425"/>
                </a:tc>
                <a:tc>
                  <a:txBody>
                    <a:bodyPr/>
                    <a:lstStyle/>
                    <a:p>
                      <a:pPr indent="0" lvl="0" marL="0" rtl="0" algn="l">
                        <a:spcBef>
                          <a:spcPts val="0"/>
                        </a:spcBef>
                        <a:spcAft>
                          <a:spcPts val="0"/>
                        </a:spcAft>
                        <a:buNone/>
                      </a:pPr>
                      <a:r>
                        <a:rPr lang="en-US"/>
                        <a:t>Systematic evaluation across cost ratios (2:1 to 20:1)</a:t>
                      </a:r>
                      <a:endParaRPr/>
                    </a:p>
                    <a:p>
                      <a:pPr indent="0" lvl="0" marL="0" rtl="0" algn="l">
                        <a:spcBef>
                          <a:spcPts val="0"/>
                        </a:spcBef>
                        <a:spcAft>
                          <a:spcPts val="0"/>
                        </a:spcAft>
                        <a:buNone/>
                      </a:pPr>
                      <a:r>
                        <a:rPr lang="en-US"/>
                        <a:t>Architectures (LightGBM, TFT) Product segments </a:t>
                      </a:r>
                      <a:endParaRPr/>
                    </a:p>
                    <a:p>
                      <a:pPr indent="0" lvl="0" marL="0" rtl="0" algn="l">
                        <a:spcBef>
                          <a:spcPts val="0"/>
                        </a:spcBef>
                        <a:spcAft>
                          <a:spcPts val="0"/>
                        </a:spcAft>
                        <a:buNone/>
                      </a:pPr>
                      <a:r>
                        <a:rPr lang="en-US"/>
                        <a:t> Calibration methods</a:t>
                      </a:r>
                      <a:endParaRPr/>
                    </a:p>
                  </a:txBody>
                  <a:tcPr marT="91425" marB="91425" marR="91425" marL="91425"/>
                </a:tc>
                <a:tc>
                  <a:txBody>
                    <a:bodyPr/>
                    <a:lstStyle/>
                    <a:p>
                      <a:pPr indent="0" lvl="0" marL="0" rtl="0" algn="l">
                        <a:spcBef>
                          <a:spcPts val="0"/>
                        </a:spcBef>
                        <a:spcAft>
                          <a:spcPts val="0"/>
                        </a:spcAft>
                        <a:buNone/>
                      </a:pPr>
                      <a:r>
                        <a:rPr lang="en-US"/>
                        <a:t>Provides practitioners with decision rules for when to use fixed vs. contextual service levels and which architectures suit their constraints</a:t>
                      </a:r>
                      <a:endParaRPr/>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1"/>
          <p:cNvSpPr txBox="1"/>
          <p:nvPr>
            <p:ph type="title"/>
          </p:nvPr>
        </p:nvSpPr>
        <p:spPr>
          <a:xfrm>
            <a:off x="457200" y="381000"/>
            <a:ext cx="8077200" cy="369900"/>
          </a:xfrm>
          <a:prstGeom prst="rect">
            <a:avLst/>
          </a:prstGeom>
        </p:spPr>
        <p:txBody>
          <a:bodyPr anchorCtr="0" anchor="ctr" bIns="45700" lIns="91425" spcFirstLastPara="1" rIns="91425" wrap="square" tIns="45700">
            <a:normAutofit fontScale="90000"/>
          </a:bodyPr>
          <a:lstStyle/>
          <a:p>
            <a:pPr indent="0" lvl="0" marL="0" rtl="0" algn="ctr">
              <a:spcBef>
                <a:spcPts val="1800"/>
              </a:spcBef>
              <a:spcAft>
                <a:spcPts val="400"/>
              </a:spcAft>
              <a:buClr>
                <a:schemeClr val="dk1"/>
              </a:buClr>
              <a:buSzPct val="64705"/>
              <a:buFont typeface="Arial"/>
              <a:buNone/>
            </a:pPr>
            <a:r>
              <a:rPr lang="en-US" sz="1700">
                <a:solidFill>
                  <a:schemeClr val="dk1"/>
                </a:solidFill>
                <a:latin typeface="Times New Roman"/>
                <a:ea typeface="Times New Roman"/>
                <a:cs typeface="Times New Roman"/>
                <a:sym typeface="Times New Roman"/>
              </a:rPr>
              <a:t>Objectives and Research Questions</a:t>
            </a:r>
            <a:endParaRPr/>
          </a:p>
        </p:txBody>
      </p:sp>
      <p:sp>
        <p:nvSpPr>
          <p:cNvPr id="148" name="Google Shape;148;p21"/>
          <p:cNvSpPr txBox="1"/>
          <p:nvPr/>
        </p:nvSpPr>
        <p:spPr>
          <a:xfrm>
            <a:off x="189000" y="961150"/>
            <a:ext cx="8766000" cy="514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t>Primary Objective:</a:t>
            </a:r>
            <a:endParaRPr b="1"/>
          </a:p>
          <a:p>
            <a:pPr indent="-317500" lvl="0" marL="457200" rtl="0" algn="l">
              <a:spcBef>
                <a:spcPts val="0"/>
              </a:spcBef>
              <a:spcAft>
                <a:spcPts val="0"/>
              </a:spcAft>
              <a:buSzPts val="1400"/>
              <a:buChar char="❖"/>
            </a:pPr>
            <a:r>
              <a:rPr lang="en-US"/>
              <a:t>Develop a decision-focused probabilistic forecasting framework that directly aligns retail demand predictions with inventory cost objectives, bridging the gap between forecast accuracy and operational performance.</a:t>
            </a:r>
            <a:endParaRPr/>
          </a:p>
          <a:p>
            <a:pPr indent="0" lvl="0" marL="0" rtl="0" algn="l">
              <a:spcBef>
                <a:spcPts val="0"/>
              </a:spcBef>
              <a:spcAft>
                <a:spcPts val="0"/>
              </a:spcAft>
              <a:buNone/>
            </a:pPr>
            <a:r>
              <a:rPr b="1" lang="en-US"/>
              <a:t>Specific Objectives:</a:t>
            </a:r>
            <a:endParaRPr/>
          </a:p>
          <a:p>
            <a:pPr indent="-317500" lvl="0" marL="457200" rtl="0" algn="l">
              <a:spcBef>
                <a:spcPts val="0"/>
              </a:spcBef>
              <a:spcAft>
                <a:spcPts val="0"/>
              </a:spcAft>
              <a:buSzPts val="1400"/>
              <a:buChar char="★"/>
            </a:pPr>
            <a:r>
              <a:rPr b="1" i="1" lang="en-US"/>
              <a:t>Implement Decision-Focused Training Pipeline</a:t>
            </a:r>
            <a:endParaRPr b="1" i="1"/>
          </a:p>
          <a:p>
            <a:pPr indent="-317500" lvl="1" marL="914400" rtl="0" algn="l">
              <a:spcBef>
                <a:spcPts val="0"/>
              </a:spcBef>
              <a:spcAft>
                <a:spcPts val="0"/>
              </a:spcAft>
              <a:buSzPts val="1400"/>
              <a:buChar char="○"/>
            </a:pPr>
            <a:r>
              <a:rPr lang="en-US"/>
              <a:t>Design a differentiable newsvendor loss function that minimizes expected holding and shortage costs	</a:t>
            </a:r>
            <a:endParaRPr/>
          </a:p>
          <a:p>
            <a:pPr indent="-317500" lvl="1" marL="914400" rtl="0" algn="l">
              <a:spcBef>
                <a:spcPts val="0"/>
              </a:spcBef>
              <a:spcAft>
                <a:spcPts val="0"/>
              </a:spcAft>
              <a:buSzPts val="1400"/>
              <a:buChar char="○"/>
            </a:pPr>
            <a:r>
              <a:rPr lang="en-US"/>
              <a:t>Develop both fixed service level (τ*) and contextual service level (τ(x)) implementations</a:t>
            </a:r>
            <a:endParaRPr/>
          </a:p>
          <a:p>
            <a:pPr indent="-317500" lvl="1" marL="914400" rtl="0" algn="l">
              <a:spcBef>
                <a:spcPts val="0"/>
              </a:spcBef>
              <a:spcAft>
                <a:spcPts val="0"/>
              </a:spcAft>
              <a:buSzPts val="1400"/>
              <a:buChar char="○"/>
            </a:pPr>
            <a:r>
              <a:rPr lang="en-US"/>
              <a:t>Create smooth gradient-flow surrogates for non-differentiable inventory cost functions</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b="1" i="1" lang="en-US"/>
              <a:t>Build Unified Evaluation Framework</a:t>
            </a:r>
            <a:endParaRPr b="1" i="1"/>
          </a:p>
          <a:p>
            <a:pPr indent="-317500" lvl="1" marL="914400" rtl="0" algn="l">
              <a:spcBef>
                <a:spcPts val="0"/>
              </a:spcBef>
              <a:spcAft>
                <a:spcPts val="0"/>
              </a:spcAft>
              <a:buSzPts val="1400"/>
              <a:buChar char="○"/>
            </a:pPr>
            <a:r>
              <a:rPr lang="en-US"/>
              <a:t>Couple traditional forecast quality metrics (MASE, RMSSE, CRPS) with operational decision quality metrics (expected cost, fill rate, stockout frequency)</a:t>
            </a:r>
            <a:endParaRPr/>
          </a:p>
          <a:p>
            <a:pPr indent="-317500" lvl="1" marL="914400" rtl="0" algn="l">
              <a:spcBef>
                <a:spcPts val="0"/>
              </a:spcBef>
              <a:spcAft>
                <a:spcPts val="0"/>
              </a:spcAft>
              <a:buSzPts val="1400"/>
              <a:buChar char="○"/>
            </a:pPr>
            <a:r>
              <a:rPr lang="en-US"/>
              <a:t>Implement rolling-origin validation across 3,049 products over multiple evaluation folds</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b="1" i="1" lang="en-US"/>
              <a:t>Ensure Probabilistic Calibration</a:t>
            </a:r>
            <a:endParaRPr b="1" i="1"/>
          </a:p>
          <a:p>
            <a:pPr indent="-317500" lvl="1" marL="914400" rtl="0" algn="l">
              <a:spcBef>
                <a:spcPts val="0"/>
              </a:spcBef>
              <a:spcAft>
                <a:spcPts val="0"/>
              </a:spcAft>
              <a:buSzPts val="1400"/>
              <a:buChar char="○"/>
            </a:pPr>
            <a:r>
              <a:rPr lang="en-US"/>
              <a:t>Develop calibration assessment protocols (reliability diagrams, coverage tests)</a:t>
            </a:r>
            <a:endParaRPr/>
          </a:p>
          <a:p>
            <a:pPr indent="-317500" lvl="1" marL="914400" rtl="0" algn="l">
              <a:spcBef>
                <a:spcPts val="0"/>
              </a:spcBef>
              <a:spcAft>
                <a:spcPts val="0"/>
              </a:spcAft>
              <a:buSzPts val="1400"/>
              <a:buChar char="○"/>
            </a:pPr>
            <a:r>
              <a:rPr lang="en-US"/>
              <a:t>Implement post-hoc calibration corrections (temperature scaling, quantile mapping)</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b="1" i="1" lang="en-US"/>
              <a:t>Integrate Hierarchical Reconciliation</a:t>
            </a:r>
            <a:endParaRPr b="1" i="1"/>
          </a:p>
          <a:p>
            <a:pPr indent="-317500" lvl="0" marL="457200" rtl="0" algn="l">
              <a:spcBef>
                <a:spcPts val="0"/>
              </a:spcBef>
              <a:spcAft>
                <a:spcPts val="0"/>
              </a:spcAft>
              <a:buSzPts val="1400"/>
              <a:buChar char="★"/>
            </a:pPr>
            <a:r>
              <a:rPr b="1" i="1" lang="en-US"/>
              <a:t>Conduct Comprehensive Sensitivity Analysis</a:t>
            </a:r>
            <a:endParaRPr b="1" i="1"/>
          </a:p>
          <a:p>
            <a:pPr indent="0" lvl="0" marL="0" rtl="0" algn="l">
              <a:spcBef>
                <a:spcPts val="0"/>
              </a:spcBef>
              <a:spcAft>
                <a:spcPts val="0"/>
              </a:spcAft>
              <a:buNone/>
            </a:pPr>
            <a:r>
              <a:t/>
            </a:r>
            <a:endParaRPr b="1" i="1"/>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2"/>
          <p:cNvSpPr txBox="1"/>
          <p:nvPr>
            <p:ph type="title"/>
          </p:nvPr>
        </p:nvSpPr>
        <p:spPr>
          <a:xfrm>
            <a:off x="457200" y="381000"/>
            <a:ext cx="8077200" cy="3699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SzPts val="990"/>
              <a:buNone/>
            </a:pPr>
            <a:r>
              <a:rPr lang="en-US" sz="2540"/>
              <a:t>M5 Retail Demand Forecasting (Walmart)</a:t>
            </a:r>
            <a:endParaRPr sz="2340"/>
          </a:p>
        </p:txBody>
      </p:sp>
      <p:sp>
        <p:nvSpPr>
          <p:cNvPr id="155" name="Google Shape;155;p22"/>
          <p:cNvSpPr txBox="1"/>
          <p:nvPr>
            <p:ph idx="1" type="body"/>
          </p:nvPr>
        </p:nvSpPr>
        <p:spPr>
          <a:xfrm>
            <a:off x="457200" y="975800"/>
            <a:ext cx="4114800" cy="5127300"/>
          </a:xfrm>
          <a:prstGeom prst="rect">
            <a:avLst/>
          </a:prstGeom>
        </p:spPr>
        <p:txBody>
          <a:bodyPr anchorCtr="0" anchor="t" bIns="45700" lIns="91425" spcFirstLastPara="1" rIns="91425" wrap="square" tIns="45700">
            <a:normAutofit fontScale="55000" lnSpcReduction="20000"/>
          </a:bodyPr>
          <a:lstStyle/>
          <a:p>
            <a:pPr indent="-312420" lvl="0" marL="457200" rtl="0" algn="l">
              <a:spcBef>
                <a:spcPts val="480"/>
              </a:spcBef>
              <a:spcAft>
                <a:spcPts val="0"/>
              </a:spcAft>
              <a:buSzPct val="100000"/>
              <a:buChar char="★"/>
            </a:pPr>
            <a:r>
              <a:rPr lang="en-US"/>
              <a:t>Scope &amp; Structure</a:t>
            </a:r>
            <a:endParaRPr b="0"/>
          </a:p>
          <a:p>
            <a:pPr indent="0" lvl="0" marL="457200" rtl="0" algn="l">
              <a:spcBef>
                <a:spcPts val="480"/>
              </a:spcBef>
              <a:spcAft>
                <a:spcPts val="0"/>
              </a:spcAft>
              <a:buNone/>
            </a:pPr>
            <a:r>
              <a:rPr b="0" lang="en-US"/>
              <a:t>3,049 retail items</a:t>
            </a:r>
            <a:endParaRPr b="0"/>
          </a:p>
          <a:p>
            <a:pPr indent="0" lvl="0" marL="457200" rtl="0" algn="l">
              <a:spcBef>
                <a:spcPts val="480"/>
              </a:spcBef>
              <a:spcAft>
                <a:spcPts val="0"/>
              </a:spcAft>
              <a:buClr>
                <a:schemeClr val="dk1"/>
              </a:buClr>
              <a:buSzPct val="45833"/>
              <a:buFont typeface="Arial"/>
              <a:buNone/>
            </a:pPr>
            <a:r>
              <a:rPr b="0" lang="en-US"/>
              <a:t>10 stores across 3 US states (California, Texas, Wisconsin)</a:t>
            </a:r>
            <a:endParaRPr b="0"/>
          </a:p>
          <a:p>
            <a:pPr indent="0" lvl="0" marL="457200" rtl="0" algn="l">
              <a:spcBef>
                <a:spcPts val="480"/>
              </a:spcBef>
              <a:spcAft>
                <a:spcPts val="0"/>
              </a:spcAft>
              <a:buClr>
                <a:schemeClr val="dk1"/>
              </a:buClr>
              <a:buSzPct val="45833"/>
              <a:buFont typeface="Arial"/>
              <a:buNone/>
            </a:pPr>
            <a:r>
              <a:rPr b="0" lang="en-US"/>
              <a:t>7 hierarchical product departments</a:t>
            </a:r>
            <a:endParaRPr b="0"/>
          </a:p>
          <a:p>
            <a:pPr indent="0" lvl="0" marL="457200" rtl="0" algn="l">
              <a:spcBef>
                <a:spcPts val="480"/>
              </a:spcBef>
              <a:spcAft>
                <a:spcPts val="0"/>
              </a:spcAft>
              <a:buNone/>
            </a:pPr>
            <a:r>
              <a:rPr b="0" lang="en-US"/>
              <a:t>Daily sales data over 1,913 days (≈5 years) </a:t>
            </a:r>
            <a:endParaRPr b="0"/>
          </a:p>
          <a:p>
            <a:pPr indent="0" lvl="0" marL="457200" rtl="0" algn="l">
              <a:spcBef>
                <a:spcPts val="480"/>
              </a:spcBef>
              <a:spcAft>
                <a:spcPts val="0"/>
              </a:spcAft>
              <a:buClr>
                <a:schemeClr val="dk1"/>
              </a:buClr>
              <a:buSzPct val="45833"/>
              <a:buFont typeface="Arial"/>
              <a:buNone/>
            </a:pPr>
            <a:r>
              <a:t/>
            </a:r>
            <a:endParaRPr b="0"/>
          </a:p>
          <a:p>
            <a:pPr indent="-312420" lvl="0" marL="457200" rtl="0" algn="l">
              <a:spcBef>
                <a:spcPts val="480"/>
              </a:spcBef>
              <a:spcAft>
                <a:spcPts val="0"/>
              </a:spcAft>
              <a:buSzPct val="100000"/>
              <a:buChar char="★"/>
            </a:pPr>
            <a:r>
              <a:rPr i="1" lang="en-US"/>
              <a:t>Hierarchy Levels</a:t>
            </a:r>
            <a:endParaRPr i="1"/>
          </a:p>
          <a:p>
            <a:pPr indent="0" lvl="0" marL="457200" rtl="0" algn="l">
              <a:spcBef>
                <a:spcPts val="480"/>
              </a:spcBef>
              <a:spcAft>
                <a:spcPts val="0"/>
              </a:spcAft>
              <a:buClr>
                <a:schemeClr val="dk1"/>
              </a:buClr>
              <a:buSzPct val="45833"/>
              <a:buFont typeface="Arial"/>
              <a:buNone/>
            </a:pPr>
            <a:r>
              <a:rPr b="0" lang="en-US"/>
              <a:t>State → Store → Department → Item</a:t>
            </a:r>
            <a:endParaRPr b="0"/>
          </a:p>
          <a:p>
            <a:pPr indent="0" lvl="0" marL="457200" rtl="0" algn="l">
              <a:spcBef>
                <a:spcPts val="480"/>
              </a:spcBef>
              <a:spcAft>
                <a:spcPts val="0"/>
              </a:spcAft>
              <a:buClr>
                <a:schemeClr val="dk1"/>
              </a:buClr>
              <a:buSzPct val="45833"/>
              <a:buFont typeface="Arial"/>
              <a:buNone/>
            </a:pPr>
            <a:r>
              <a:rPr b="0" lang="en-US"/>
              <a:t>Supports bottom-level decision optimization while enabling top-level planning coherence through reconciliation </a:t>
            </a:r>
            <a:endParaRPr b="0"/>
          </a:p>
          <a:p>
            <a:pPr indent="0" lvl="0" marL="0" rtl="0" algn="l">
              <a:spcBef>
                <a:spcPts val="480"/>
              </a:spcBef>
              <a:spcAft>
                <a:spcPts val="0"/>
              </a:spcAft>
              <a:buClr>
                <a:schemeClr val="dk1"/>
              </a:buClr>
              <a:buSzPct val="45833"/>
              <a:buFont typeface="Arial"/>
              <a:buNone/>
            </a:pPr>
            <a:r>
              <a:t/>
            </a:r>
            <a:endParaRPr b="0"/>
          </a:p>
          <a:p>
            <a:pPr indent="-312420" lvl="0" marL="457200" rtl="0" algn="l">
              <a:spcBef>
                <a:spcPts val="480"/>
              </a:spcBef>
              <a:spcAft>
                <a:spcPts val="0"/>
              </a:spcAft>
              <a:buSzPct val="100000"/>
              <a:buChar char="★"/>
            </a:pPr>
            <a:r>
              <a:rPr i="1" lang="en-US"/>
              <a:t>Core Data Modalities</a:t>
            </a:r>
            <a:endParaRPr i="1"/>
          </a:p>
          <a:p>
            <a:pPr indent="0" lvl="0" marL="457200" rtl="0" algn="l">
              <a:spcBef>
                <a:spcPts val="480"/>
              </a:spcBef>
              <a:spcAft>
                <a:spcPts val="0"/>
              </a:spcAft>
              <a:buClr>
                <a:schemeClr val="dk1"/>
              </a:buClr>
              <a:buSzPct val="45833"/>
              <a:buFont typeface="Arial"/>
              <a:buNone/>
            </a:pPr>
            <a:r>
              <a:rPr lang="en-US"/>
              <a:t>Sales History</a:t>
            </a:r>
            <a:r>
              <a:rPr b="0" lang="en-US"/>
              <a:t>: target variable (unit-level demand)</a:t>
            </a:r>
            <a:endParaRPr b="0"/>
          </a:p>
          <a:p>
            <a:pPr indent="0" lvl="0" marL="457200" rtl="0" algn="l">
              <a:spcBef>
                <a:spcPts val="480"/>
              </a:spcBef>
              <a:spcAft>
                <a:spcPts val="0"/>
              </a:spcAft>
              <a:buClr>
                <a:schemeClr val="dk1"/>
              </a:buClr>
              <a:buSzPct val="45833"/>
              <a:buFont typeface="Arial"/>
              <a:buNone/>
            </a:pPr>
            <a:r>
              <a:rPr lang="en-US"/>
              <a:t>Price Signals</a:t>
            </a:r>
            <a:r>
              <a:rPr b="0" lang="en-US"/>
              <a:t>: absolute price, price deltas, promotions</a:t>
            </a:r>
            <a:endParaRPr b="0"/>
          </a:p>
          <a:p>
            <a:pPr indent="0" lvl="0" marL="457200" rtl="0" algn="l">
              <a:spcBef>
                <a:spcPts val="480"/>
              </a:spcBef>
              <a:spcAft>
                <a:spcPts val="0"/>
              </a:spcAft>
              <a:buClr>
                <a:schemeClr val="dk1"/>
              </a:buClr>
              <a:buSzPct val="45833"/>
              <a:buFont typeface="Arial"/>
              <a:buNone/>
            </a:pPr>
            <a:r>
              <a:rPr lang="en-US"/>
              <a:t>Calendar &amp; Seasonality</a:t>
            </a:r>
            <a:r>
              <a:rPr b="0" lang="en-US"/>
              <a:t>: holidays (Thanksgiving, Christmas), SNAP program eligibility, monthly/weekly effects </a:t>
            </a:r>
            <a:endParaRPr b="0"/>
          </a:p>
          <a:p>
            <a:pPr indent="0" lvl="0" marL="457200" rtl="0" algn="l">
              <a:spcBef>
                <a:spcPts val="480"/>
              </a:spcBef>
              <a:spcAft>
                <a:spcPts val="0"/>
              </a:spcAft>
              <a:buClr>
                <a:schemeClr val="dk1"/>
              </a:buClr>
              <a:buSzPct val="45833"/>
              <a:buFont typeface="Arial"/>
              <a:buNone/>
            </a:pPr>
            <a:r>
              <a:t/>
            </a:r>
            <a:endParaRPr b="0"/>
          </a:p>
          <a:p>
            <a:pPr indent="0" lvl="0" marL="457200" rtl="0" algn="l">
              <a:spcBef>
                <a:spcPts val="480"/>
              </a:spcBef>
              <a:spcAft>
                <a:spcPts val="0"/>
              </a:spcAft>
              <a:buNone/>
            </a:pPr>
            <a:r>
              <a:t/>
            </a:r>
            <a:endParaRPr b="0"/>
          </a:p>
        </p:txBody>
      </p:sp>
      <p:sp>
        <p:nvSpPr>
          <p:cNvPr id="156" name="Google Shape;156;p22"/>
          <p:cNvSpPr txBox="1"/>
          <p:nvPr>
            <p:ph idx="1" type="body"/>
          </p:nvPr>
        </p:nvSpPr>
        <p:spPr>
          <a:xfrm>
            <a:off x="4850050" y="1075850"/>
            <a:ext cx="4114800" cy="5127300"/>
          </a:xfrm>
          <a:prstGeom prst="rect">
            <a:avLst/>
          </a:prstGeom>
        </p:spPr>
        <p:txBody>
          <a:bodyPr anchorCtr="0" anchor="t" bIns="45700" lIns="91425" spcFirstLastPara="1" rIns="91425" wrap="square" tIns="45700">
            <a:normAutofit fontScale="85000" lnSpcReduction="20000"/>
          </a:bodyPr>
          <a:lstStyle/>
          <a:p>
            <a:pPr indent="-358140" lvl="0" marL="457200" rtl="0" algn="l">
              <a:spcBef>
                <a:spcPts val="480"/>
              </a:spcBef>
              <a:spcAft>
                <a:spcPts val="0"/>
              </a:spcAft>
              <a:buSzPct val="100000"/>
              <a:buChar char="★"/>
            </a:pPr>
            <a:r>
              <a:rPr i="1" lang="en-US"/>
              <a:t>Key Properties for Decision-Focused Learning</a:t>
            </a:r>
            <a:endParaRPr i="1"/>
          </a:p>
          <a:p>
            <a:pPr indent="-347344" lvl="1" marL="914400" rtl="0" algn="l">
              <a:spcBef>
                <a:spcPts val="0"/>
              </a:spcBef>
              <a:spcAft>
                <a:spcPts val="0"/>
              </a:spcAft>
              <a:buSzPct val="100000"/>
              <a:buChar char="○"/>
            </a:pPr>
            <a:r>
              <a:rPr b="0" lang="en-US"/>
              <a:t>High heterogeneity: different product velocities (fast vs intermittent)</a:t>
            </a:r>
            <a:endParaRPr b="0"/>
          </a:p>
          <a:p>
            <a:pPr indent="-347344" lvl="1" marL="914400" rtl="0" algn="l">
              <a:spcBef>
                <a:spcPts val="0"/>
              </a:spcBef>
              <a:spcAft>
                <a:spcPts val="0"/>
              </a:spcAft>
              <a:buSzPct val="100000"/>
              <a:buChar char="○"/>
            </a:pPr>
            <a:r>
              <a:rPr b="0" lang="en-US"/>
              <a:t>Demand shocks: seasonal peaks &amp; promotion events</a:t>
            </a:r>
            <a:endParaRPr b="0"/>
          </a:p>
          <a:p>
            <a:pPr indent="-347344" lvl="1" marL="914400" rtl="0" algn="l">
              <a:spcBef>
                <a:spcPts val="0"/>
              </a:spcBef>
              <a:spcAft>
                <a:spcPts val="0"/>
              </a:spcAft>
              <a:buSzPct val="100000"/>
              <a:buChar char="○"/>
            </a:pPr>
            <a:r>
              <a:rPr b="0" lang="en-US"/>
              <a:t>Asymmetric costs: stockout vs holding penalties → ideal for newsvendor objective </a:t>
            </a:r>
            <a:endParaRPr b="0"/>
          </a:p>
          <a:p>
            <a:pPr indent="0" lvl="0" marL="457200" rtl="0" algn="l">
              <a:spcBef>
                <a:spcPts val="480"/>
              </a:spcBef>
              <a:spcAft>
                <a:spcPts val="0"/>
              </a:spcAft>
              <a:buNone/>
            </a:pPr>
            <a:r>
              <a:t/>
            </a:r>
            <a:endParaRPr b="0"/>
          </a:p>
          <a:p>
            <a:pPr indent="-358140" lvl="0" marL="457200" rtl="0" algn="l">
              <a:spcBef>
                <a:spcPts val="480"/>
              </a:spcBef>
              <a:spcAft>
                <a:spcPts val="0"/>
              </a:spcAft>
              <a:buSzPct val="100000"/>
              <a:buChar char="★"/>
            </a:pPr>
            <a:r>
              <a:rPr i="1" lang="en-US"/>
              <a:t>Why This Dataset?</a:t>
            </a:r>
            <a:endParaRPr i="1"/>
          </a:p>
          <a:p>
            <a:pPr indent="-347344" lvl="1" marL="914400" rtl="0" algn="l">
              <a:spcBef>
                <a:spcPts val="0"/>
              </a:spcBef>
              <a:spcAft>
                <a:spcPts val="0"/>
              </a:spcAft>
              <a:buSzPct val="100000"/>
              <a:buChar char="○"/>
            </a:pPr>
            <a:r>
              <a:rPr b="0" lang="en-US"/>
              <a:t>Real-world retail complexity</a:t>
            </a:r>
            <a:endParaRPr b="0"/>
          </a:p>
          <a:p>
            <a:pPr indent="-347344" lvl="1" marL="914400" rtl="0" algn="l">
              <a:spcBef>
                <a:spcPts val="0"/>
              </a:spcBef>
              <a:spcAft>
                <a:spcPts val="0"/>
              </a:spcAft>
              <a:buSzPct val="100000"/>
              <a:buChar char="○"/>
            </a:pPr>
            <a:r>
              <a:rPr b="0" lang="en-US"/>
              <a:t>Demonstrated benchmark ecosystem (M5 competition)</a:t>
            </a:r>
            <a:endParaRPr b="0"/>
          </a:p>
          <a:p>
            <a:pPr indent="-347344" lvl="1" marL="914400" rtl="0" algn="l">
              <a:spcBef>
                <a:spcPts val="0"/>
              </a:spcBef>
              <a:spcAft>
                <a:spcPts val="0"/>
              </a:spcAft>
              <a:buSzPct val="100000"/>
              <a:buChar char="○"/>
            </a:pPr>
            <a:r>
              <a:rPr b="0" lang="en-US"/>
              <a:t>Enables evaluation of forecasting accuracy and operational outcomes under rolling-origin validation </a:t>
            </a:r>
            <a:endParaRPr b="0"/>
          </a:p>
          <a:p>
            <a:pPr indent="0" lvl="0" marL="457200" rtl="0" algn="l">
              <a:spcBef>
                <a:spcPts val="480"/>
              </a:spcBef>
              <a:spcAft>
                <a:spcPts val="0"/>
              </a:spcAft>
              <a:buNone/>
            </a:pPr>
            <a:r>
              <a:t/>
            </a:r>
            <a:endParaRPr b="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3"/>
          <p:cNvSpPr txBox="1"/>
          <p:nvPr>
            <p:ph type="title"/>
          </p:nvPr>
        </p:nvSpPr>
        <p:spPr>
          <a:xfrm>
            <a:off x="457200" y="381000"/>
            <a:ext cx="8077200" cy="370042"/>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rgbClr val="002060"/>
              </a:buClr>
              <a:buSzPct val="100000"/>
              <a:buFont typeface="Arial"/>
              <a:buNone/>
            </a:pPr>
            <a:r>
              <a:rPr lang="en-US"/>
              <a:t>Methodology</a:t>
            </a:r>
            <a:endParaRPr/>
          </a:p>
        </p:txBody>
      </p:sp>
      <p:pic>
        <p:nvPicPr>
          <p:cNvPr id="162" name="Google Shape;162;p23" title="Screenshot 2025-11-26 013505.png"/>
          <p:cNvPicPr preferRelativeResize="0"/>
          <p:nvPr/>
        </p:nvPicPr>
        <p:blipFill>
          <a:blip r:embed="rId3">
            <a:alphaModFix/>
          </a:blip>
          <a:stretch>
            <a:fillRect/>
          </a:stretch>
        </p:blipFill>
        <p:spPr>
          <a:xfrm>
            <a:off x="683975" y="876100"/>
            <a:ext cx="7961474" cy="52887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4"/>
          <p:cNvSpPr txBox="1"/>
          <p:nvPr>
            <p:ph type="title"/>
          </p:nvPr>
        </p:nvSpPr>
        <p:spPr>
          <a:xfrm>
            <a:off x="457200" y="511277"/>
            <a:ext cx="8077200" cy="4644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rgbClr val="002060"/>
              </a:buClr>
              <a:buSzPct val="111111"/>
              <a:buFont typeface="Arial"/>
              <a:buNone/>
            </a:pPr>
            <a:r>
              <a:rPr lang="en-US"/>
              <a:t>Results</a:t>
            </a:r>
            <a:br>
              <a:rPr lang="en-US"/>
            </a:br>
            <a:endParaRPr/>
          </a:p>
        </p:txBody>
      </p:sp>
      <p:sp>
        <p:nvSpPr>
          <p:cNvPr id="168" name="Google Shape;168;p24"/>
          <p:cNvSpPr txBox="1"/>
          <p:nvPr>
            <p:ph idx="1" type="body"/>
          </p:nvPr>
        </p:nvSpPr>
        <p:spPr>
          <a:xfrm>
            <a:off x="457200" y="975788"/>
            <a:ext cx="8229600" cy="5127300"/>
          </a:xfrm>
          <a:prstGeom prst="rect">
            <a:avLst/>
          </a:prstGeom>
          <a:noFill/>
          <a:ln>
            <a:noFill/>
          </a:ln>
        </p:spPr>
        <p:txBody>
          <a:bodyPr anchorCtr="0" anchor="t" bIns="45700" lIns="91425" spcFirstLastPara="1" rIns="91425" wrap="square" tIns="45700">
            <a:normAutofit/>
          </a:bodyPr>
          <a:lstStyle/>
          <a:p>
            <a:pPr indent="0" lvl="0" marL="0" rtl="0" algn="l">
              <a:spcBef>
                <a:spcPts val="480"/>
              </a:spcBef>
              <a:spcAft>
                <a:spcPts val="0"/>
              </a:spcAft>
              <a:buClr>
                <a:schemeClr val="dk1"/>
              </a:buClr>
              <a:buSzPts val="1100"/>
              <a:buFont typeface="Arial"/>
              <a:buNone/>
            </a:pPr>
            <a:r>
              <a:t/>
            </a:r>
            <a:endParaRPr sz="1200">
              <a:latin typeface="Times New Roman"/>
              <a:ea typeface="Times New Roman"/>
              <a:cs typeface="Times New Roman"/>
              <a:sym typeface="Times New Roman"/>
            </a:endParaRPr>
          </a:p>
          <a:p>
            <a:pPr indent="0" lvl="0" marL="0" rtl="0" algn="l">
              <a:spcBef>
                <a:spcPts val="480"/>
              </a:spcBef>
              <a:spcAft>
                <a:spcPts val="0"/>
              </a:spcAft>
              <a:buNone/>
            </a:pPr>
            <a:r>
              <a:t/>
            </a:r>
            <a:endParaRPr sz="1200">
              <a:latin typeface="Times New Roman"/>
              <a:ea typeface="Times New Roman"/>
              <a:cs typeface="Times New Roman"/>
              <a:sym typeface="Times New Roman"/>
            </a:endParaRPr>
          </a:p>
          <a:p>
            <a:pPr indent="0" lvl="0" marL="0" rtl="0" algn="l">
              <a:spcBef>
                <a:spcPts val="480"/>
              </a:spcBef>
              <a:spcAft>
                <a:spcPts val="0"/>
              </a:spcAft>
              <a:buNone/>
            </a:pPr>
            <a:r>
              <a:t/>
            </a:r>
            <a:endParaRPr sz="1200">
              <a:latin typeface="Times New Roman"/>
              <a:ea typeface="Times New Roman"/>
              <a:cs typeface="Times New Roman"/>
              <a:sym typeface="Times New Roman"/>
            </a:endParaRPr>
          </a:p>
          <a:p>
            <a:pPr indent="0" lvl="0" marL="0" rtl="0" algn="l">
              <a:spcBef>
                <a:spcPts val="480"/>
              </a:spcBef>
              <a:spcAft>
                <a:spcPts val="0"/>
              </a:spcAft>
              <a:buNone/>
            </a:pPr>
            <a:r>
              <a:t/>
            </a:r>
            <a:endParaRPr sz="1200">
              <a:latin typeface="Times New Roman"/>
              <a:ea typeface="Times New Roman"/>
              <a:cs typeface="Times New Roman"/>
              <a:sym typeface="Times New Roman"/>
            </a:endParaRPr>
          </a:p>
          <a:p>
            <a:pPr indent="0" lvl="0" marL="0" rtl="0" algn="l">
              <a:spcBef>
                <a:spcPts val="480"/>
              </a:spcBef>
              <a:spcAft>
                <a:spcPts val="0"/>
              </a:spcAft>
              <a:buNone/>
            </a:pPr>
            <a:r>
              <a:t/>
            </a:r>
            <a:endParaRPr sz="1200">
              <a:latin typeface="Times New Roman"/>
              <a:ea typeface="Times New Roman"/>
              <a:cs typeface="Times New Roman"/>
              <a:sym typeface="Times New Roman"/>
            </a:endParaRPr>
          </a:p>
          <a:p>
            <a:pPr indent="0" lvl="0" marL="0" rtl="0" algn="l">
              <a:spcBef>
                <a:spcPts val="480"/>
              </a:spcBef>
              <a:spcAft>
                <a:spcPts val="0"/>
              </a:spcAft>
              <a:buNone/>
            </a:pPr>
            <a:r>
              <a:t/>
            </a:r>
            <a:endParaRPr sz="1200">
              <a:latin typeface="Times New Roman"/>
              <a:ea typeface="Times New Roman"/>
              <a:cs typeface="Times New Roman"/>
              <a:sym typeface="Times New Roman"/>
            </a:endParaRPr>
          </a:p>
          <a:p>
            <a:pPr indent="0" lvl="0" marL="0" rtl="0" algn="l">
              <a:spcBef>
                <a:spcPts val="480"/>
              </a:spcBef>
              <a:spcAft>
                <a:spcPts val="0"/>
              </a:spcAft>
              <a:buNone/>
            </a:pPr>
            <a:r>
              <a:t/>
            </a:r>
            <a:endParaRPr sz="1200">
              <a:latin typeface="Times New Roman"/>
              <a:ea typeface="Times New Roman"/>
              <a:cs typeface="Times New Roman"/>
              <a:sym typeface="Times New Roman"/>
            </a:endParaRPr>
          </a:p>
          <a:p>
            <a:pPr indent="0" lvl="0" marL="0" rtl="0" algn="l">
              <a:spcBef>
                <a:spcPts val="480"/>
              </a:spcBef>
              <a:spcAft>
                <a:spcPts val="0"/>
              </a:spcAft>
              <a:buNone/>
            </a:pPr>
            <a:r>
              <a:t/>
            </a:r>
            <a:endParaRPr sz="1200">
              <a:latin typeface="Times New Roman"/>
              <a:ea typeface="Times New Roman"/>
              <a:cs typeface="Times New Roman"/>
              <a:sym typeface="Times New Roman"/>
            </a:endParaRPr>
          </a:p>
          <a:p>
            <a:pPr indent="0" lvl="0" marL="0" rtl="0" algn="l">
              <a:spcBef>
                <a:spcPts val="480"/>
              </a:spcBef>
              <a:spcAft>
                <a:spcPts val="0"/>
              </a:spcAft>
              <a:buNone/>
            </a:pPr>
            <a:r>
              <a:t/>
            </a:r>
            <a:endParaRPr sz="1200">
              <a:latin typeface="Times New Roman"/>
              <a:ea typeface="Times New Roman"/>
              <a:cs typeface="Times New Roman"/>
              <a:sym typeface="Times New Roman"/>
            </a:endParaRPr>
          </a:p>
          <a:p>
            <a:pPr indent="0" lvl="0" marL="0" rtl="0" algn="l">
              <a:spcBef>
                <a:spcPts val="480"/>
              </a:spcBef>
              <a:spcAft>
                <a:spcPts val="0"/>
              </a:spcAft>
              <a:buNone/>
            </a:pPr>
            <a:r>
              <a:t/>
            </a:r>
            <a:endParaRPr sz="1200">
              <a:latin typeface="Times New Roman"/>
              <a:ea typeface="Times New Roman"/>
              <a:cs typeface="Times New Roman"/>
              <a:sym typeface="Times New Roman"/>
            </a:endParaRPr>
          </a:p>
          <a:p>
            <a:pPr indent="0" lvl="0" marL="0" rtl="0" algn="l">
              <a:spcBef>
                <a:spcPts val="480"/>
              </a:spcBef>
              <a:spcAft>
                <a:spcPts val="0"/>
              </a:spcAft>
              <a:buNone/>
            </a:pPr>
            <a:r>
              <a:t/>
            </a:r>
            <a:endParaRPr sz="1200">
              <a:latin typeface="Times New Roman"/>
              <a:ea typeface="Times New Roman"/>
              <a:cs typeface="Times New Roman"/>
              <a:sym typeface="Times New Roman"/>
            </a:endParaRPr>
          </a:p>
          <a:p>
            <a:pPr indent="0" lvl="0" marL="0" rtl="0" algn="l">
              <a:spcBef>
                <a:spcPts val="480"/>
              </a:spcBef>
              <a:spcAft>
                <a:spcPts val="0"/>
              </a:spcAft>
              <a:buClr>
                <a:schemeClr val="dk1"/>
              </a:buClr>
              <a:buSzPts val="1100"/>
              <a:buFont typeface="Arial"/>
              <a:buNone/>
            </a:pPr>
            <a:r>
              <a:t/>
            </a:r>
            <a:endParaRPr sz="1200">
              <a:latin typeface="Times New Roman"/>
              <a:ea typeface="Times New Roman"/>
              <a:cs typeface="Times New Roman"/>
              <a:sym typeface="Times New Roman"/>
            </a:endParaRPr>
          </a:p>
          <a:p>
            <a:pPr indent="-304800" lvl="0" marL="457200" rtl="0" algn="l">
              <a:spcBef>
                <a:spcPts val="480"/>
              </a:spcBef>
              <a:spcAft>
                <a:spcPts val="0"/>
              </a:spcAft>
              <a:buSzPts val="1200"/>
              <a:buFont typeface="Times New Roman"/>
              <a:buChar char="★"/>
            </a:pPr>
            <a:r>
              <a:rPr b="0" i="1" lang="en-US" sz="1200">
                <a:latin typeface="Times New Roman"/>
                <a:ea typeface="Times New Roman"/>
                <a:cs typeface="Times New Roman"/>
                <a:sym typeface="Times New Roman"/>
              </a:rPr>
              <a:t>The baseline dramatically under-orders (78% cases).</a:t>
            </a:r>
            <a:endParaRPr b="0" i="1" sz="1200">
              <a:latin typeface="Times New Roman"/>
              <a:ea typeface="Times New Roman"/>
              <a:cs typeface="Times New Roman"/>
              <a:sym typeface="Times New Roman"/>
            </a:endParaRPr>
          </a:p>
          <a:p>
            <a:pPr indent="-304800" lvl="0" marL="457200" rtl="0" algn="l">
              <a:spcBef>
                <a:spcPts val="0"/>
              </a:spcBef>
              <a:spcAft>
                <a:spcPts val="0"/>
              </a:spcAft>
              <a:buSzPts val="1200"/>
              <a:buFont typeface="Times New Roman"/>
              <a:buChar char="★"/>
            </a:pPr>
            <a:r>
              <a:rPr b="0" i="1" lang="en-US" sz="1200">
                <a:latin typeface="Times New Roman"/>
                <a:ea typeface="Times New Roman"/>
                <a:cs typeface="Times New Roman"/>
                <a:sym typeface="Times New Roman"/>
              </a:rPr>
              <a:t>The DF model reduces understocking to 18% and introduces healthy buffers.</a:t>
            </a:r>
            <a:endParaRPr b="0" i="1" sz="1200">
              <a:latin typeface="Times New Roman"/>
              <a:ea typeface="Times New Roman"/>
              <a:cs typeface="Times New Roman"/>
              <a:sym typeface="Times New Roman"/>
            </a:endParaRPr>
          </a:p>
          <a:p>
            <a:pPr indent="-304800" lvl="0" marL="457200" rtl="0" algn="l">
              <a:lnSpc>
                <a:spcPct val="100000"/>
              </a:lnSpc>
              <a:spcBef>
                <a:spcPts val="0"/>
              </a:spcBef>
              <a:spcAft>
                <a:spcPts val="0"/>
              </a:spcAft>
              <a:buSzPts val="1200"/>
              <a:buFont typeface="Times New Roman"/>
              <a:buChar char="★"/>
            </a:pPr>
            <a:r>
              <a:rPr b="0" i="1" lang="en-US" sz="1200">
                <a:latin typeface="Times New Roman"/>
                <a:ea typeface="Times New Roman"/>
                <a:cs typeface="Times New Roman"/>
                <a:sym typeface="Times New Roman"/>
              </a:rPr>
              <a:t>Decision-Focused Learning reduces expected cost by 28% and stockouts by 70%, while improving fill-rate by +62.9%.</a:t>
            </a:r>
            <a:endParaRPr b="0" i="1" sz="1200">
              <a:latin typeface="Times New Roman"/>
              <a:ea typeface="Times New Roman"/>
              <a:cs typeface="Times New Roman"/>
              <a:sym typeface="Times New Roman"/>
            </a:endParaRPr>
          </a:p>
        </p:txBody>
      </p:sp>
      <p:graphicFrame>
        <p:nvGraphicFramePr>
          <p:cNvPr id="169" name="Google Shape;169;p24"/>
          <p:cNvGraphicFramePr/>
          <p:nvPr/>
        </p:nvGraphicFramePr>
        <p:xfrm>
          <a:off x="457200" y="919050"/>
          <a:ext cx="3000000" cy="3000000"/>
        </p:xfrm>
        <a:graphic>
          <a:graphicData uri="http://schemas.openxmlformats.org/drawingml/2006/table">
            <a:tbl>
              <a:tblPr>
                <a:noFill/>
                <a:tableStyleId>{BAE4D0CB-45B4-4C7B-BF53-3BBE1C227625}</a:tableStyleId>
              </a:tblPr>
              <a:tblGrid>
                <a:gridCol w="1537525"/>
                <a:gridCol w="890025"/>
                <a:gridCol w="1783750"/>
              </a:tblGrid>
              <a:tr h="381000">
                <a:tc>
                  <a:txBody>
                    <a:bodyPr/>
                    <a:lstStyle/>
                    <a:p>
                      <a:pPr indent="0" lvl="0" marL="0" rtl="0" algn="l">
                        <a:spcBef>
                          <a:spcPts val="0"/>
                        </a:spcBef>
                        <a:spcAft>
                          <a:spcPts val="0"/>
                        </a:spcAft>
                        <a:buNone/>
                      </a:pPr>
                      <a:r>
                        <a:rPr lang="en-US"/>
                        <a:t>Metric</a:t>
                      </a:r>
                      <a:endParaRPr/>
                    </a:p>
                  </a:txBody>
                  <a:tcPr marT="91425" marB="91425" marR="91425" marL="91425"/>
                </a:tc>
                <a:tc>
                  <a:txBody>
                    <a:bodyPr/>
                    <a:lstStyle/>
                    <a:p>
                      <a:pPr indent="0" lvl="0" marL="0" rtl="0" algn="l">
                        <a:spcBef>
                          <a:spcPts val="0"/>
                        </a:spcBef>
                        <a:spcAft>
                          <a:spcPts val="0"/>
                        </a:spcAft>
                        <a:buNone/>
                      </a:pPr>
                      <a:r>
                        <a:rPr lang="en-US"/>
                        <a:t>Baseline</a:t>
                      </a:r>
                      <a:endParaRPr/>
                    </a:p>
                  </a:txBody>
                  <a:tcPr marT="91425" marB="91425" marR="91425" marL="91425"/>
                </a:tc>
                <a:tc>
                  <a:txBody>
                    <a:bodyPr/>
                    <a:lstStyle/>
                    <a:p>
                      <a:pPr indent="0" lvl="0" marL="0" rtl="0" algn="l">
                        <a:spcBef>
                          <a:spcPts val="0"/>
                        </a:spcBef>
                        <a:spcAft>
                          <a:spcPts val="0"/>
                        </a:spcAft>
                        <a:buNone/>
                      </a:pPr>
                      <a:r>
                        <a:rPr lang="en-US"/>
                        <a:t>Decision Focused</a:t>
                      </a:r>
                      <a:endParaRPr/>
                    </a:p>
                  </a:txBody>
                  <a:tcPr marT="91425" marB="91425" marR="91425" marL="91425"/>
                </a:tc>
              </a:tr>
              <a:tr h="381000">
                <a:tc>
                  <a:txBody>
                    <a:bodyPr/>
                    <a:lstStyle/>
                    <a:p>
                      <a:pPr indent="0" lvl="0" marL="0" rtl="0" algn="l">
                        <a:spcBef>
                          <a:spcPts val="0"/>
                        </a:spcBef>
                        <a:spcAft>
                          <a:spcPts val="0"/>
                        </a:spcAft>
                        <a:buNone/>
                      </a:pPr>
                      <a:r>
                        <a:rPr lang="en-US"/>
                        <a:t>MASE</a:t>
                      </a:r>
                      <a:endParaRPr/>
                    </a:p>
                  </a:txBody>
                  <a:tcPr marT="91425" marB="91425" marR="91425" marL="91425"/>
                </a:tc>
                <a:tc>
                  <a:txBody>
                    <a:bodyPr/>
                    <a:lstStyle/>
                    <a:p>
                      <a:pPr indent="0" lvl="0" marL="0" rtl="0" algn="l">
                        <a:spcBef>
                          <a:spcPts val="0"/>
                        </a:spcBef>
                        <a:spcAft>
                          <a:spcPts val="0"/>
                        </a:spcAft>
                        <a:buNone/>
                      </a:pPr>
                      <a:r>
                        <a:rPr lang="en-US"/>
                        <a:t>0.6806</a:t>
                      </a:r>
                      <a:endParaRPr/>
                    </a:p>
                  </a:txBody>
                  <a:tcPr marT="91425" marB="91425" marR="91425" marL="91425"/>
                </a:tc>
                <a:tc>
                  <a:txBody>
                    <a:bodyPr/>
                    <a:lstStyle/>
                    <a:p>
                      <a:pPr indent="0" lvl="0" marL="0" rtl="0" algn="l">
                        <a:spcBef>
                          <a:spcPts val="0"/>
                        </a:spcBef>
                        <a:spcAft>
                          <a:spcPts val="0"/>
                        </a:spcAft>
                        <a:buNone/>
                      </a:pPr>
                      <a:r>
                        <a:rPr lang="en-US"/>
                        <a:t>0.9083</a:t>
                      </a:r>
                      <a:endParaRPr/>
                    </a:p>
                  </a:txBody>
                  <a:tcPr marT="91425" marB="91425" marR="91425" marL="91425"/>
                </a:tc>
              </a:tr>
              <a:tr h="381000">
                <a:tc>
                  <a:txBody>
                    <a:bodyPr/>
                    <a:lstStyle/>
                    <a:p>
                      <a:pPr indent="0" lvl="0" marL="0" rtl="0" algn="l">
                        <a:spcBef>
                          <a:spcPts val="0"/>
                        </a:spcBef>
                        <a:spcAft>
                          <a:spcPts val="0"/>
                        </a:spcAft>
                        <a:buNone/>
                      </a:pPr>
                      <a:r>
                        <a:rPr lang="en-US"/>
                        <a:t>RMSSE</a:t>
                      </a:r>
                      <a:endParaRPr/>
                    </a:p>
                  </a:txBody>
                  <a:tcPr marT="91425" marB="91425" marR="91425" marL="91425"/>
                </a:tc>
                <a:tc>
                  <a:txBody>
                    <a:bodyPr/>
                    <a:lstStyle/>
                    <a:p>
                      <a:pPr indent="0" lvl="0" marL="0" rtl="0" algn="l">
                        <a:spcBef>
                          <a:spcPts val="0"/>
                        </a:spcBef>
                        <a:spcAft>
                          <a:spcPts val="0"/>
                        </a:spcAft>
                        <a:buNone/>
                      </a:pPr>
                      <a:r>
                        <a:rPr lang="en-US"/>
                        <a:t>6.9630</a:t>
                      </a:r>
                      <a:endParaRPr/>
                    </a:p>
                  </a:txBody>
                  <a:tcPr marT="91425" marB="91425" marR="91425" marL="91425"/>
                </a:tc>
                <a:tc>
                  <a:txBody>
                    <a:bodyPr/>
                    <a:lstStyle/>
                    <a:p>
                      <a:pPr indent="0" lvl="0" marL="0" rtl="0" algn="l">
                        <a:spcBef>
                          <a:spcPts val="0"/>
                        </a:spcBef>
                        <a:spcAft>
                          <a:spcPts val="0"/>
                        </a:spcAft>
                        <a:buNone/>
                      </a:pPr>
                      <a:r>
                        <a:rPr lang="en-US"/>
                        <a:t>0.9327</a:t>
                      </a:r>
                      <a:endParaRPr/>
                    </a:p>
                  </a:txBody>
                  <a:tcPr marT="91425" marB="91425" marR="91425" marL="91425"/>
                </a:tc>
              </a:tr>
              <a:tr h="381000">
                <a:tc>
                  <a:txBody>
                    <a:bodyPr/>
                    <a:lstStyle/>
                    <a:p>
                      <a:pPr indent="0" lvl="0" marL="0" rtl="0" algn="l">
                        <a:spcBef>
                          <a:spcPts val="0"/>
                        </a:spcBef>
                        <a:spcAft>
                          <a:spcPts val="0"/>
                        </a:spcAft>
                        <a:buNone/>
                      </a:pPr>
                      <a:r>
                        <a:rPr lang="en-US"/>
                        <a:t>Expected Cost</a:t>
                      </a:r>
                      <a:endParaRPr/>
                    </a:p>
                  </a:txBody>
                  <a:tcPr marT="91425" marB="91425" marR="91425" marL="91425"/>
                </a:tc>
                <a:tc>
                  <a:txBody>
                    <a:bodyPr/>
                    <a:lstStyle/>
                    <a:p>
                      <a:pPr indent="0" lvl="0" marL="0" rtl="0" algn="l">
                        <a:spcBef>
                          <a:spcPts val="0"/>
                        </a:spcBef>
                        <a:spcAft>
                          <a:spcPts val="0"/>
                        </a:spcAft>
                        <a:buNone/>
                      </a:pPr>
                      <a:r>
                        <a:rPr lang="en-US"/>
                        <a:t>2.9145</a:t>
                      </a:r>
                      <a:endParaRPr/>
                    </a:p>
                  </a:txBody>
                  <a:tcPr marT="91425" marB="91425" marR="91425" marL="91425"/>
                </a:tc>
                <a:tc>
                  <a:txBody>
                    <a:bodyPr/>
                    <a:lstStyle/>
                    <a:p>
                      <a:pPr indent="0" lvl="0" marL="0" rtl="0" algn="l">
                        <a:spcBef>
                          <a:spcPts val="0"/>
                        </a:spcBef>
                        <a:spcAft>
                          <a:spcPts val="0"/>
                        </a:spcAft>
                        <a:buNone/>
                      </a:pPr>
                      <a:r>
                        <a:rPr lang="en-US"/>
                        <a:t>2.0935</a:t>
                      </a:r>
                      <a:endParaRPr/>
                    </a:p>
                  </a:txBody>
                  <a:tcPr marT="91425" marB="91425" marR="91425" marL="91425"/>
                </a:tc>
              </a:tr>
              <a:tr h="381000">
                <a:tc>
                  <a:txBody>
                    <a:bodyPr/>
                    <a:lstStyle/>
                    <a:p>
                      <a:pPr indent="0" lvl="0" marL="0" rtl="0" algn="l">
                        <a:spcBef>
                          <a:spcPts val="0"/>
                        </a:spcBef>
                        <a:spcAft>
                          <a:spcPts val="0"/>
                        </a:spcAft>
                        <a:buNone/>
                      </a:pPr>
                      <a:r>
                        <a:rPr lang="en-US"/>
                        <a:t>Fill Rate</a:t>
                      </a:r>
                      <a:endParaRPr/>
                    </a:p>
                  </a:txBody>
                  <a:tcPr marT="91425" marB="91425" marR="91425" marL="91425"/>
                </a:tc>
                <a:tc>
                  <a:txBody>
                    <a:bodyPr/>
                    <a:lstStyle/>
                    <a:p>
                      <a:pPr indent="0" lvl="0" marL="0" rtl="0" algn="l">
                        <a:spcBef>
                          <a:spcPts val="0"/>
                        </a:spcBef>
                        <a:spcAft>
                          <a:spcPts val="0"/>
                        </a:spcAft>
                        <a:buNone/>
                      </a:pPr>
                      <a:r>
                        <a:rPr lang="en-US"/>
                        <a:t>0.4896</a:t>
                      </a:r>
                      <a:endParaRPr/>
                    </a:p>
                  </a:txBody>
                  <a:tcPr marT="91425" marB="91425" marR="91425" marL="91425"/>
                </a:tc>
                <a:tc>
                  <a:txBody>
                    <a:bodyPr/>
                    <a:lstStyle/>
                    <a:p>
                      <a:pPr indent="0" lvl="0" marL="0" rtl="0" algn="l">
                        <a:spcBef>
                          <a:spcPts val="0"/>
                        </a:spcBef>
                        <a:spcAft>
                          <a:spcPts val="0"/>
                        </a:spcAft>
                        <a:buNone/>
                      </a:pPr>
                      <a:r>
                        <a:rPr lang="en-US"/>
                        <a:t>0.7975</a:t>
                      </a:r>
                      <a:endParaRPr/>
                    </a:p>
                  </a:txBody>
                  <a:tcPr marT="91425" marB="91425" marR="91425" marL="91425"/>
                </a:tc>
              </a:tr>
              <a:tr h="381000">
                <a:tc>
                  <a:txBody>
                    <a:bodyPr/>
                    <a:lstStyle/>
                    <a:p>
                      <a:pPr indent="0" lvl="0" marL="0" rtl="0" algn="l">
                        <a:spcBef>
                          <a:spcPts val="0"/>
                        </a:spcBef>
                        <a:spcAft>
                          <a:spcPts val="0"/>
                        </a:spcAft>
                        <a:buNone/>
                      </a:pPr>
                      <a:r>
                        <a:rPr lang="en-US"/>
                        <a:t>Stockout Frequency</a:t>
                      </a:r>
                      <a:endParaRPr/>
                    </a:p>
                  </a:txBody>
                  <a:tcPr marT="91425" marB="91425" marR="91425" marL="91425"/>
                </a:tc>
                <a:tc>
                  <a:txBody>
                    <a:bodyPr/>
                    <a:lstStyle/>
                    <a:p>
                      <a:pPr indent="0" lvl="0" marL="0" rtl="0" algn="l">
                        <a:spcBef>
                          <a:spcPts val="0"/>
                        </a:spcBef>
                        <a:spcAft>
                          <a:spcPts val="0"/>
                        </a:spcAft>
                        <a:buNone/>
                      </a:pPr>
                      <a:r>
                        <a:rPr lang="en-US"/>
                        <a:t>0.5158</a:t>
                      </a:r>
                      <a:endParaRPr/>
                    </a:p>
                  </a:txBody>
                  <a:tcPr marT="91425" marB="91425" marR="91425" marL="91425"/>
                </a:tc>
                <a:tc>
                  <a:txBody>
                    <a:bodyPr/>
                    <a:lstStyle/>
                    <a:p>
                      <a:pPr indent="0" lvl="0" marL="0" rtl="0" algn="l">
                        <a:spcBef>
                          <a:spcPts val="0"/>
                        </a:spcBef>
                        <a:spcAft>
                          <a:spcPts val="0"/>
                        </a:spcAft>
                        <a:buNone/>
                      </a:pPr>
                      <a:r>
                        <a:rPr lang="en-US"/>
                        <a:t>0.1546</a:t>
                      </a:r>
                      <a:endParaRPr/>
                    </a:p>
                  </a:txBody>
                  <a:tcPr marT="91425" marB="91425" marR="91425" marL="91425"/>
                </a:tc>
              </a:tr>
              <a:tr h="100000">
                <a:tc>
                  <a:txBody>
                    <a:bodyPr/>
                    <a:lstStyle/>
                    <a:p>
                      <a:pPr indent="0" lvl="0" marL="0" rtl="0" algn="l">
                        <a:spcBef>
                          <a:spcPts val="0"/>
                        </a:spcBef>
                        <a:spcAft>
                          <a:spcPts val="0"/>
                        </a:spcAft>
                        <a:buNone/>
                      </a:pPr>
                      <a:r>
                        <a:rPr lang="en-US"/>
                        <a:t>CRPS</a:t>
                      </a:r>
                      <a:endParaRPr/>
                    </a:p>
                  </a:txBody>
                  <a:tcPr marT="91425" marB="91425" marR="91425" marL="91425"/>
                </a:tc>
                <a:tc>
                  <a:txBody>
                    <a:bodyPr/>
                    <a:lstStyle/>
                    <a:p>
                      <a:pPr indent="0" lvl="0" marL="0" rtl="0" algn="l">
                        <a:spcBef>
                          <a:spcPts val="0"/>
                        </a:spcBef>
                        <a:spcAft>
                          <a:spcPts val="0"/>
                        </a:spcAft>
                        <a:buNone/>
                      </a:pPr>
                      <a:r>
                        <a:rPr lang="en-US"/>
                        <a:t>1883.63</a:t>
                      </a:r>
                      <a:endParaRPr/>
                    </a:p>
                  </a:txBody>
                  <a:tcPr marT="91425" marB="91425" marR="91425" marL="91425"/>
                </a:tc>
                <a:tc>
                  <a:txBody>
                    <a:bodyPr/>
                    <a:lstStyle/>
                    <a:p>
                      <a:pPr indent="0" lvl="0" marL="0" rtl="0" algn="l">
                        <a:spcBef>
                          <a:spcPts val="0"/>
                        </a:spcBef>
                        <a:spcAft>
                          <a:spcPts val="0"/>
                        </a:spcAft>
                        <a:buNone/>
                      </a:pPr>
                      <a:r>
                        <a:rPr lang="en-US"/>
                        <a:t>1.3339</a:t>
                      </a:r>
                      <a:endParaRPr/>
                    </a:p>
                  </a:txBody>
                  <a:tcPr marT="91425" marB="91425" marR="91425" marL="91425"/>
                </a:tc>
              </a:tr>
            </a:tbl>
          </a:graphicData>
        </a:graphic>
      </p:graphicFrame>
      <p:pic>
        <p:nvPicPr>
          <p:cNvPr id="170" name="Google Shape;170;p24" title="Screenshot 2025-11-26 015153.png"/>
          <p:cNvPicPr preferRelativeResize="0"/>
          <p:nvPr/>
        </p:nvPicPr>
        <p:blipFill>
          <a:blip r:embed="rId3">
            <a:alphaModFix/>
          </a:blip>
          <a:stretch>
            <a:fillRect/>
          </a:stretch>
        </p:blipFill>
        <p:spPr>
          <a:xfrm>
            <a:off x="4860800" y="919050"/>
            <a:ext cx="3903225" cy="2929450"/>
          </a:xfrm>
          <a:prstGeom prst="rect">
            <a:avLst/>
          </a:prstGeom>
          <a:noFill/>
          <a:ln>
            <a:noFill/>
          </a:ln>
        </p:spPr>
      </p:pic>
      <p:pic>
        <p:nvPicPr>
          <p:cNvPr id="171" name="Google Shape;171;p24" title="Fold_3.png"/>
          <p:cNvPicPr preferRelativeResize="0"/>
          <p:nvPr/>
        </p:nvPicPr>
        <p:blipFill>
          <a:blip r:embed="rId4">
            <a:alphaModFix/>
          </a:blip>
          <a:stretch>
            <a:fillRect/>
          </a:stretch>
        </p:blipFill>
        <p:spPr>
          <a:xfrm>
            <a:off x="1659775" y="4528450"/>
            <a:ext cx="6226974" cy="1898125"/>
          </a:xfrm>
          <a:prstGeom prst="rect">
            <a:avLst/>
          </a:prstGeom>
          <a:noFill/>
          <a:ln>
            <a:noFill/>
          </a:ln>
        </p:spPr>
      </p:pic>
      <p:pic>
        <p:nvPicPr>
          <p:cNvPr id="172" name="Google Shape;172;p24" title="Fold_2.png"/>
          <p:cNvPicPr preferRelativeResize="0"/>
          <p:nvPr/>
        </p:nvPicPr>
        <p:blipFill>
          <a:blip r:embed="rId5">
            <a:alphaModFix/>
          </a:blip>
          <a:stretch>
            <a:fillRect/>
          </a:stretch>
        </p:blipFill>
        <p:spPr>
          <a:xfrm>
            <a:off x="1659775" y="4528450"/>
            <a:ext cx="6226974" cy="18981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5"/>
          <p:cNvSpPr txBox="1"/>
          <p:nvPr>
            <p:ph type="title"/>
          </p:nvPr>
        </p:nvSpPr>
        <p:spPr>
          <a:xfrm>
            <a:off x="457200" y="575300"/>
            <a:ext cx="8077200" cy="4005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Clr>
                <a:srgbClr val="002060"/>
              </a:buClr>
              <a:buSzPct val="111111"/>
              <a:buFont typeface="Arial"/>
              <a:buNone/>
            </a:pPr>
            <a:r>
              <a:rPr lang="en-US"/>
              <a:t>Results</a:t>
            </a:r>
            <a:br>
              <a:rPr lang="en-US"/>
            </a:br>
            <a:endParaRPr/>
          </a:p>
        </p:txBody>
      </p:sp>
      <p:pic>
        <p:nvPicPr>
          <p:cNvPr id="179" name="Google Shape;179;p25" title="cs_ch.png"/>
          <p:cNvPicPr preferRelativeResize="0"/>
          <p:nvPr/>
        </p:nvPicPr>
        <p:blipFill>
          <a:blip r:embed="rId3">
            <a:alphaModFix/>
          </a:blip>
          <a:stretch>
            <a:fillRect/>
          </a:stretch>
        </p:blipFill>
        <p:spPr>
          <a:xfrm>
            <a:off x="4112975" y="893275"/>
            <a:ext cx="4942876" cy="2389800"/>
          </a:xfrm>
          <a:prstGeom prst="rect">
            <a:avLst/>
          </a:prstGeom>
          <a:noFill/>
          <a:ln>
            <a:noFill/>
          </a:ln>
        </p:spPr>
      </p:pic>
      <p:pic>
        <p:nvPicPr>
          <p:cNvPr id="180" name="Google Shape;180;p25" title="Contextrual_And_Fill_rate.png"/>
          <p:cNvPicPr preferRelativeResize="0"/>
          <p:nvPr/>
        </p:nvPicPr>
        <p:blipFill>
          <a:blip r:embed="rId4">
            <a:alphaModFix/>
          </a:blip>
          <a:stretch>
            <a:fillRect/>
          </a:stretch>
        </p:blipFill>
        <p:spPr>
          <a:xfrm>
            <a:off x="4345525" y="3283075"/>
            <a:ext cx="4477775" cy="1466225"/>
          </a:xfrm>
          <a:prstGeom prst="rect">
            <a:avLst/>
          </a:prstGeom>
          <a:noFill/>
          <a:ln>
            <a:noFill/>
          </a:ln>
        </p:spPr>
      </p:pic>
      <p:pic>
        <p:nvPicPr>
          <p:cNvPr id="181" name="Google Shape;181;p25" title="Permutation_Feature_Importance.png"/>
          <p:cNvPicPr preferRelativeResize="0"/>
          <p:nvPr/>
        </p:nvPicPr>
        <p:blipFill>
          <a:blip r:embed="rId5">
            <a:alphaModFix/>
          </a:blip>
          <a:stretch>
            <a:fillRect/>
          </a:stretch>
        </p:blipFill>
        <p:spPr>
          <a:xfrm>
            <a:off x="592775" y="3429000"/>
            <a:ext cx="3161325" cy="1650650"/>
          </a:xfrm>
          <a:prstGeom prst="rect">
            <a:avLst/>
          </a:prstGeom>
          <a:noFill/>
          <a:ln>
            <a:noFill/>
          </a:ln>
        </p:spPr>
      </p:pic>
      <p:pic>
        <p:nvPicPr>
          <p:cNvPr id="182" name="Google Shape;182;p25" title="Example.png"/>
          <p:cNvPicPr preferRelativeResize="0"/>
          <p:nvPr/>
        </p:nvPicPr>
        <p:blipFill>
          <a:blip r:embed="rId6">
            <a:alphaModFix/>
          </a:blip>
          <a:stretch>
            <a:fillRect/>
          </a:stretch>
        </p:blipFill>
        <p:spPr>
          <a:xfrm>
            <a:off x="866375" y="4526000"/>
            <a:ext cx="7591225" cy="1839525"/>
          </a:xfrm>
          <a:prstGeom prst="rect">
            <a:avLst/>
          </a:prstGeom>
          <a:noFill/>
          <a:ln>
            <a:noFill/>
          </a:ln>
        </p:spPr>
      </p:pic>
      <p:pic>
        <p:nvPicPr>
          <p:cNvPr id="183" name="Google Shape;183;p25" title="Baseline_Quantile_MLP.png"/>
          <p:cNvPicPr preferRelativeResize="0"/>
          <p:nvPr/>
        </p:nvPicPr>
        <p:blipFill>
          <a:blip r:embed="rId7">
            <a:alphaModFix/>
          </a:blip>
          <a:stretch>
            <a:fillRect/>
          </a:stretch>
        </p:blipFill>
        <p:spPr>
          <a:xfrm>
            <a:off x="457200" y="893275"/>
            <a:ext cx="3573700" cy="25357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6"/>
          <p:cNvSpPr txBox="1"/>
          <p:nvPr>
            <p:ph type="title"/>
          </p:nvPr>
        </p:nvSpPr>
        <p:spPr>
          <a:xfrm>
            <a:off x="457200" y="381000"/>
            <a:ext cx="8077200" cy="3699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rgbClr val="002060"/>
              </a:buClr>
              <a:buSzPct val="100000"/>
              <a:buFont typeface="Arial"/>
              <a:buNone/>
            </a:pPr>
            <a:r>
              <a:rPr lang="en-US"/>
              <a:t>Conclusions</a:t>
            </a:r>
            <a:endParaRPr/>
          </a:p>
        </p:txBody>
      </p:sp>
      <p:sp>
        <p:nvSpPr>
          <p:cNvPr id="189" name="Google Shape;189;p26"/>
          <p:cNvSpPr txBox="1"/>
          <p:nvPr>
            <p:ph idx="1" type="body"/>
          </p:nvPr>
        </p:nvSpPr>
        <p:spPr>
          <a:xfrm>
            <a:off x="457200" y="975788"/>
            <a:ext cx="8229600" cy="51273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480"/>
              </a:spcBef>
              <a:spcAft>
                <a:spcPts val="0"/>
              </a:spcAft>
              <a:buSzPts val="2000"/>
              <a:buFont typeface="Times New Roman"/>
              <a:buChar char="❖"/>
            </a:pPr>
            <a:r>
              <a:rPr b="0" lang="en-US" sz="2000">
                <a:latin typeface="Times New Roman"/>
                <a:ea typeface="Times New Roman"/>
                <a:cs typeface="Times New Roman"/>
                <a:sym typeface="Times New Roman"/>
              </a:rPr>
              <a:t>Decision-focused learning aligns forecasting with operational cost, outperforming accuracy-centric approaches in inventory management.</a:t>
            </a:r>
            <a:endParaRPr b="0" sz="2000">
              <a:latin typeface="Times New Roman"/>
              <a:ea typeface="Times New Roman"/>
              <a:cs typeface="Times New Roman"/>
              <a:sym typeface="Times New Roman"/>
            </a:endParaRPr>
          </a:p>
          <a:p>
            <a:pPr indent="-355600" lvl="0" marL="457200" rtl="0" algn="l">
              <a:lnSpc>
                <a:spcPct val="100000"/>
              </a:lnSpc>
              <a:spcBef>
                <a:spcPts val="0"/>
              </a:spcBef>
              <a:spcAft>
                <a:spcPts val="0"/>
              </a:spcAft>
              <a:buSzPts val="2000"/>
              <a:buFont typeface="Times New Roman"/>
              <a:buChar char="❖"/>
            </a:pPr>
            <a:r>
              <a:rPr b="0" lang="en-US" sz="2000">
                <a:latin typeface="Times New Roman"/>
                <a:ea typeface="Times New Roman"/>
                <a:cs typeface="Times New Roman"/>
                <a:sym typeface="Times New Roman"/>
              </a:rPr>
              <a:t>Contextual service levels τ(x) enable adaptive ordering policies that reflect item characteristics, seasonality, and cost asymmetry rather than a fixed global threshold.</a:t>
            </a:r>
            <a:endParaRPr b="0" sz="2000">
              <a:latin typeface="Times New Roman"/>
              <a:ea typeface="Times New Roman"/>
              <a:cs typeface="Times New Roman"/>
              <a:sym typeface="Times New Roman"/>
            </a:endParaRPr>
          </a:p>
          <a:p>
            <a:pPr indent="-355600" lvl="0" marL="457200" rtl="0" algn="l">
              <a:lnSpc>
                <a:spcPct val="100000"/>
              </a:lnSpc>
              <a:spcBef>
                <a:spcPts val="0"/>
              </a:spcBef>
              <a:spcAft>
                <a:spcPts val="0"/>
              </a:spcAft>
              <a:buSzPts val="2000"/>
              <a:buFont typeface="Times New Roman"/>
              <a:buChar char="❖"/>
            </a:pPr>
            <a:r>
              <a:rPr b="0" lang="en-US" sz="2000">
                <a:latin typeface="Times New Roman"/>
                <a:ea typeface="Times New Roman"/>
                <a:cs typeface="Times New Roman"/>
                <a:sym typeface="Times New Roman"/>
              </a:rPr>
              <a:t>Unified evaluation (forecast + decision metrics) demonstrates that models with slightly higher statistical error can still deliver materially superior business outcomes.</a:t>
            </a:r>
            <a:endParaRPr b="0" sz="2000">
              <a:latin typeface="Times New Roman"/>
              <a:ea typeface="Times New Roman"/>
              <a:cs typeface="Times New Roman"/>
              <a:sym typeface="Times New Roman"/>
            </a:endParaRPr>
          </a:p>
          <a:p>
            <a:pPr indent="-355600" lvl="0" marL="457200" rtl="0" algn="l">
              <a:lnSpc>
                <a:spcPct val="100000"/>
              </a:lnSpc>
              <a:spcBef>
                <a:spcPts val="0"/>
              </a:spcBef>
              <a:spcAft>
                <a:spcPts val="0"/>
              </a:spcAft>
              <a:buSzPts val="2000"/>
              <a:buFont typeface="Times New Roman"/>
              <a:buChar char="❖"/>
            </a:pPr>
            <a:r>
              <a:rPr b="0" lang="en-US" sz="2000">
                <a:latin typeface="Times New Roman"/>
                <a:ea typeface="Times New Roman"/>
                <a:cs typeface="Times New Roman"/>
                <a:sym typeface="Times New Roman"/>
              </a:rPr>
              <a:t>Hierarchical reconciliation preserves coherence across organizational levels, enabling tactical item-level decisions while supporting strategic aggregate planning.</a:t>
            </a:r>
            <a:endParaRPr b="0" sz="2000">
              <a:latin typeface="Times New Roman"/>
              <a:ea typeface="Times New Roman"/>
              <a:cs typeface="Times New Roman"/>
              <a:sym typeface="Times New Roman"/>
            </a:endParaRPr>
          </a:p>
          <a:p>
            <a:pPr indent="-355600" lvl="0" marL="457200" rtl="0" algn="l">
              <a:lnSpc>
                <a:spcPct val="100000"/>
              </a:lnSpc>
              <a:spcBef>
                <a:spcPts val="0"/>
              </a:spcBef>
              <a:spcAft>
                <a:spcPts val="0"/>
              </a:spcAft>
              <a:buSzPts val="2000"/>
              <a:buFont typeface="Times New Roman"/>
              <a:buChar char="❖"/>
            </a:pPr>
            <a:r>
              <a:rPr b="0" lang="en-US" sz="2000">
                <a:latin typeface="Times New Roman"/>
                <a:ea typeface="Times New Roman"/>
                <a:cs typeface="Times New Roman"/>
                <a:sym typeface="Times New Roman"/>
              </a:rPr>
              <a:t>The framework is implementation-ready, scalable to thousands of items, and deployable in real retail environments.</a:t>
            </a:r>
            <a:endParaRPr b="0" sz="200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7"/>
          <p:cNvSpPr txBox="1"/>
          <p:nvPr>
            <p:ph type="title"/>
          </p:nvPr>
        </p:nvSpPr>
        <p:spPr>
          <a:xfrm>
            <a:off x="457200" y="381000"/>
            <a:ext cx="8077200" cy="370042"/>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rgbClr val="002060"/>
              </a:buClr>
              <a:buSzPct val="100000"/>
              <a:buFont typeface="Arial"/>
              <a:buNone/>
            </a:pPr>
            <a:r>
              <a:rPr lang="en-US"/>
              <a:t>Selected References</a:t>
            </a:r>
            <a:endParaRPr/>
          </a:p>
        </p:txBody>
      </p:sp>
      <p:sp>
        <p:nvSpPr>
          <p:cNvPr id="195" name="Google Shape;195;p27"/>
          <p:cNvSpPr txBox="1"/>
          <p:nvPr>
            <p:ph idx="1" type="body"/>
          </p:nvPr>
        </p:nvSpPr>
        <p:spPr>
          <a:xfrm>
            <a:off x="457200" y="1014038"/>
            <a:ext cx="8229600" cy="5141100"/>
          </a:xfrm>
          <a:prstGeom prst="rect">
            <a:avLst/>
          </a:prstGeom>
          <a:noFill/>
          <a:ln>
            <a:noFill/>
          </a:ln>
        </p:spPr>
        <p:txBody>
          <a:bodyPr anchorCtr="0" anchor="t" bIns="45700" lIns="91425" spcFirstLastPara="1" rIns="91425" wrap="square" tIns="45700">
            <a:spAutoFit/>
          </a:bodyPr>
          <a:lstStyle/>
          <a:p>
            <a:pPr indent="0" lvl="0" marL="457200" rtl="0" algn="l">
              <a:spcBef>
                <a:spcPts val="480"/>
              </a:spcBef>
              <a:spcAft>
                <a:spcPts val="0"/>
              </a:spcAft>
              <a:buNone/>
            </a:pPr>
            <a:r>
              <a:rPr b="0" lang="en-US" sz="1600"/>
              <a:t>[1] A. N. Elmachtoub and P. Grigas, “Smart ‘predict, then optimize’,” Management Science, vol. 68, no. 1, pp. 9–26, Jan. 2022.</a:t>
            </a:r>
            <a:endParaRPr b="0" sz="1600"/>
          </a:p>
          <a:p>
            <a:pPr indent="0" lvl="0" marL="457200" rtl="0" algn="l">
              <a:spcBef>
                <a:spcPts val="480"/>
              </a:spcBef>
              <a:spcAft>
                <a:spcPts val="0"/>
              </a:spcAft>
              <a:buNone/>
            </a:pPr>
            <a:r>
              <a:rPr b="0" lang="en-US" sz="1600"/>
              <a:t>[2] R. Koenker and G. Bassett, “Regression quantiles,” Econometrica, vol. 46, no. 1, pp. 33–50, Jan. 1978.</a:t>
            </a:r>
            <a:endParaRPr b="0" sz="1600"/>
          </a:p>
          <a:p>
            <a:pPr indent="0" lvl="0" marL="457200" rtl="0" algn="l">
              <a:spcBef>
                <a:spcPts val="480"/>
              </a:spcBef>
              <a:spcAft>
                <a:spcPts val="0"/>
              </a:spcAft>
              <a:buNone/>
            </a:pPr>
            <a:r>
              <a:rPr b="0" lang="en-US" sz="1600"/>
              <a:t>[3] T. Gneiting and A. E. Raftery, “Strictly proper scoring rules, prediction, and estimation,” Journal of the American Statistical Association, vol. 102, no. 477, pp. 359–378, 2007.</a:t>
            </a:r>
            <a:endParaRPr b="0" sz="1600"/>
          </a:p>
          <a:p>
            <a:pPr indent="0" lvl="0" marL="457200" rtl="0" algn="l">
              <a:spcBef>
                <a:spcPts val="480"/>
              </a:spcBef>
              <a:spcAft>
                <a:spcPts val="0"/>
              </a:spcAft>
              <a:buNone/>
            </a:pPr>
            <a:r>
              <a:rPr b="0" lang="en-US" sz="1600"/>
              <a:t>[4] B. Lim, S. Ö. Arık, N. Loeff, and T. Pfister, “Temporal fusion transformers for interpretable multi-horizon time series forecasting,” International Journal of Forecasting, vol. 37, no. 4, pp. 1748–1764, Oct.–Dec. 2021.</a:t>
            </a:r>
            <a:endParaRPr b="0" sz="1600"/>
          </a:p>
          <a:p>
            <a:pPr indent="0" lvl="0" marL="457200" rtl="0" algn="l">
              <a:spcBef>
                <a:spcPts val="480"/>
              </a:spcBef>
              <a:spcAft>
                <a:spcPts val="0"/>
              </a:spcAft>
              <a:buNone/>
            </a:pPr>
            <a:r>
              <a:rPr b="0" lang="en-US" sz="1600"/>
              <a:t>[5] D. Salinas, V. Flunkert, J. Gasthaus, and T. Januschowski, “DeepAR: Probabilistic forecasting with autoregressive recurrent networks,” International Journal of Forecasting, vol. 36, no. 3, pp. 1181–1191, July–Sept. 2020.</a:t>
            </a:r>
            <a:endParaRPr b="0" sz="1600"/>
          </a:p>
          <a:p>
            <a:pPr indent="0" lvl="0" marL="457200" rtl="0" algn="l">
              <a:spcBef>
                <a:spcPts val="480"/>
              </a:spcBef>
              <a:spcAft>
                <a:spcPts val="0"/>
              </a:spcAft>
              <a:buNone/>
            </a:pPr>
            <a:r>
              <a:rPr b="0" lang="en-US" sz="1600"/>
              <a:t>[6] S. Makridakis, E. Spiliotis, and V. Assimakopoulos, “The M5 accuracy competition: Results, findings, and conclusions,” International Journal of Forecasting, vol. 38, no. 4, pp. 1346–1364, Oct.–Dec. 2022.</a:t>
            </a:r>
            <a:endParaRPr b="0" sz="1600"/>
          </a:p>
          <a:p>
            <a:pPr indent="0" lvl="0" marL="457200" rtl="0" algn="l">
              <a:spcBef>
                <a:spcPts val="480"/>
              </a:spcBef>
              <a:spcAft>
                <a:spcPts val="0"/>
              </a:spcAft>
              <a:buNone/>
            </a:pPr>
            <a:r>
              <a:rPr b="0" lang="en-US" sz="1600"/>
              <a:t>[7] R. J. Hyndman, R. A. Ahmed, G. Athanasopoulos, and H. L. Shang, “Optimal combination forecasts for hierarchical time series,” Computational Statistics &amp; Data Analysis, vol. 97, pp. 15–26, May 2016.</a:t>
            </a:r>
            <a:endParaRPr b="0" sz="16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